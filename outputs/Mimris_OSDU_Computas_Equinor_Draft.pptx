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b0a50563c048b8" /><Relationship Type="http://schemas.openxmlformats.org/officeDocument/2006/relationships/extended-properties" Target="/docProps/app.xml" Id="Rdeac3479c93d4c4f" /><Relationship Type="http://schemas.openxmlformats.org/officeDocument/2006/relationships/officeDocument" Target="/ppt/presentation.xml" Id="R6e53501d95af4a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41a5a1b85e40d5"/>
  </p:sldMasterIdLst>
  <p:notesMasterIdLst>
    <p:notesMasterId xmlns:r="http://schemas.openxmlformats.org/officeDocument/2006/relationships" r:id="R19e74555a33a4e47"/>
  </p:notesMasterIdLst>
  <p:sldIdLst>
    <p:sldId xmlns:r="http://schemas.openxmlformats.org/officeDocument/2006/relationships" id="256" r:id="Rebe79a8798554241"/>
    <p:sldId xmlns:r="http://schemas.openxmlformats.org/officeDocument/2006/relationships" id="257" r:id="Rec0ebe56c6e14ac9"/>
    <p:sldId xmlns:r="http://schemas.openxmlformats.org/officeDocument/2006/relationships" id="258" r:id="Rcf1a158c24a847a0"/>
    <p:sldId xmlns:r="http://schemas.openxmlformats.org/officeDocument/2006/relationships" id="259" r:id="Rbec5f8d4f99b4866"/>
    <p:sldId xmlns:r="http://schemas.openxmlformats.org/officeDocument/2006/relationships" id="260" r:id="R2918fdfa0d23435f"/>
    <p:sldId xmlns:r="http://schemas.openxmlformats.org/officeDocument/2006/relationships" id="261" r:id="R1b013492ef544775"/>
    <p:sldId xmlns:r="http://schemas.openxmlformats.org/officeDocument/2006/relationships" id="262" r:id="Red1820f4710d428f"/>
    <p:sldId xmlns:r="http://schemas.openxmlformats.org/officeDocument/2006/relationships" id="263" r:id="R8b080fbf57cc40d1"/>
    <p:sldId xmlns:r="http://schemas.openxmlformats.org/officeDocument/2006/relationships" id="264" r:id="Rf4ec2a0e14c14621"/>
    <p:sldId xmlns:r="http://schemas.openxmlformats.org/officeDocument/2006/relationships" id="265" r:id="R3a833e02cd9e4fa9"/>
    <p:sldId xmlns:r="http://schemas.openxmlformats.org/officeDocument/2006/relationships" id="266" r:id="R13ee0da223e14813"/>
    <p:sldId xmlns:r="http://schemas.openxmlformats.org/officeDocument/2006/relationships" id="267" r:id="R8c3b5c3cf76c4100"/>
    <p:sldId xmlns:r="http://schemas.openxmlformats.org/officeDocument/2006/relationships" id="268" r:id="R0f7c6ed5fb374f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f4b568b6114731" /><Relationship Type="http://schemas.openxmlformats.org/officeDocument/2006/relationships/slideMaster" Target="/ppt/slideMasters/slideMaster1.xml" Id="Rb341a5a1b85e40d5" /><Relationship Type="http://schemas.openxmlformats.org/officeDocument/2006/relationships/notesMaster" Target="/ppt/notesMasters/notesMaster1.xml" Id="R19e74555a33a4e47" /><Relationship Type="http://schemas.openxmlformats.org/officeDocument/2006/relationships/presProps" Target="/ppt/presProps.xml" Id="R12134c0d78b54eb3" /><Relationship Type="http://schemas.openxmlformats.org/officeDocument/2006/relationships/tableStyles" Target="/ppt/tableStyles.xml" Id="R7c14ad6e0b654ffa" /><Relationship Type="http://schemas.openxmlformats.org/officeDocument/2006/relationships/slide" Target="/ppt/slides/slide1.xml" Id="Rebe79a8798554241" /><Relationship Type="http://schemas.openxmlformats.org/officeDocument/2006/relationships/slide" Target="/ppt/slides/slide2.xml" Id="Rec0ebe56c6e14ac9" /><Relationship Type="http://schemas.openxmlformats.org/officeDocument/2006/relationships/slide" Target="/ppt/slides/slide3.xml" Id="Rcf1a158c24a847a0" /><Relationship Type="http://schemas.openxmlformats.org/officeDocument/2006/relationships/slide" Target="/ppt/slides/slide4.xml" Id="Rbec5f8d4f99b4866" /><Relationship Type="http://schemas.openxmlformats.org/officeDocument/2006/relationships/slide" Target="/ppt/slides/slide5.xml" Id="R2918fdfa0d23435f" /><Relationship Type="http://schemas.openxmlformats.org/officeDocument/2006/relationships/slide" Target="/ppt/slides/slide6.xml" Id="R1b013492ef544775" /><Relationship Type="http://schemas.openxmlformats.org/officeDocument/2006/relationships/slide" Target="/ppt/slides/slide7.xml" Id="Red1820f4710d428f" /><Relationship Type="http://schemas.openxmlformats.org/officeDocument/2006/relationships/slide" Target="/ppt/slides/slide8.xml" Id="R8b080fbf57cc40d1" /><Relationship Type="http://schemas.openxmlformats.org/officeDocument/2006/relationships/slide" Target="/ppt/slides/slide9.xml" Id="Rf4ec2a0e14c14621" /><Relationship Type="http://schemas.openxmlformats.org/officeDocument/2006/relationships/slide" Target="/ppt/slides/slide10.xml" Id="R3a833e02cd9e4fa9" /><Relationship Type="http://schemas.openxmlformats.org/officeDocument/2006/relationships/slide" Target="/ppt/slides/slide11.xml" Id="R13ee0da223e14813" /><Relationship Type="http://schemas.openxmlformats.org/officeDocument/2006/relationships/slide" Target="/ppt/slides/slide12.xml" Id="R8c3b5c3cf76c4100" /><Relationship Type="http://schemas.openxmlformats.org/officeDocument/2006/relationships/slide" Target="/ppt/slides/slide13.xml" Id="R0f7c6ed5fb374f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4c7abaaa2d4a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c51e04b19e455d" /><Relationship Type="http://schemas.openxmlformats.org/officeDocument/2006/relationships/notesMaster" Target="/ppt/notesMasters/notesMaster1.xml" Id="R28a5aa7beb0141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f43ef6d3fb4832" /><Relationship Type="http://schemas.openxmlformats.org/officeDocument/2006/relationships/notesMaster" Target="/ppt/notesMasters/notesMaster1.xml" Id="Re38a123b004a43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9693291d064b40" /><Relationship Type="http://schemas.openxmlformats.org/officeDocument/2006/relationships/notesMaster" Target="/ppt/notesMasters/notesMaster1.xml" Id="R5889382d5bc44b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8e51b7fc3846b2" /><Relationship Type="http://schemas.openxmlformats.org/officeDocument/2006/relationships/notesMaster" Target="/ppt/notesMasters/notesMaster1.xml" Id="Rc4655f09433245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581153a2b74063" /><Relationship Type="http://schemas.openxmlformats.org/officeDocument/2006/relationships/notesMaster" Target="/ppt/notesMasters/notesMaster1.xml" Id="Rb807a12c36304e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6578a98dee4d3a" /><Relationship Type="http://schemas.openxmlformats.org/officeDocument/2006/relationships/notesMaster" Target="/ppt/notesMasters/notesMaster1.xml" Id="R77c6b8d6eae546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7d2f9fa3f04c18" /><Relationship Type="http://schemas.openxmlformats.org/officeDocument/2006/relationships/notesMaster" Target="/ppt/notesMasters/notesMaster1.xml" Id="R2125e382c58b49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beda56f0f84de5" /><Relationship Type="http://schemas.openxmlformats.org/officeDocument/2006/relationships/notesMaster" Target="/ppt/notesMasters/notesMaster1.xml" Id="Rfe830bed47e14c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c4e2790d75423e" /><Relationship Type="http://schemas.openxmlformats.org/officeDocument/2006/relationships/notesMaster" Target="/ppt/notesMasters/notesMaster1.xml" Id="R12d82ac6be6947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20192712b34a29" /><Relationship Type="http://schemas.openxmlformats.org/officeDocument/2006/relationships/notesMaster" Target="/ppt/notesMasters/notesMaster1.xml" Id="R904d903e15ba42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594c433bf24d73" /><Relationship Type="http://schemas.openxmlformats.org/officeDocument/2006/relationships/notesMaster" Target="/ppt/notesMasters/notesMaster1.xml" Id="R2af19cdc0f0841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0cabdb0b97426f" /><Relationship Type="http://schemas.openxmlformats.org/officeDocument/2006/relationships/notesMaster" Target="/ppt/notesMasters/notesMaster1.xml" Id="R33d009ee2aa945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9852d864f345ee" /><Relationship Type="http://schemas.openxmlformats.org/officeDocument/2006/relationships/notesMaster" Target="/ppt/notesMasters/notesMaster1.xml" Id="R5d08a8d5e4234f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distinction: OSDU remains the authoritative storage foundation; Mimris makes the surrounding work explicit and operational. Keep this to 30–40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Equinor OSDU Seismic Interpretation domain definition, 2026-05-13.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 as evidence, not nostalgia. The key continuity is shared context plus role-specific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Equinor_AMAP_Accelerator_Case_Study.pptx, slide 6 (user-supplied).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earlier AMAP problem statement directly to the current seismic workflow. Avoid implying OSDU is deficient; the gap is complementary process and workplace modelling.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Equinor_AMAP_Accelerator_Case_Study.pptx, slide 3 (user-supplied).</a:t>
            </a:r>
          </a:p>
          <a:p xmlns:a="http://schemas.openxmlformats.org/drawingml/2006/main">
            <a:r>
              <a:t>- User-provided Equinor OSDU Seismic Interpretation domain definition, 2026-05-13.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concrete use case for the live demo. Emphasize TWT-to-TVDSS semantics, versioned velocity input, and publication back to OSDU.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Equinor OSDU Seismic Interpretation domain definition, sections 2.1–2.5, 2026-05-13.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architectural boundary slide. POPS is the mechanism: Processes, Organization, Products and Systems. OSDU remains the storage foundation.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Equinor OSDU Seismic Interpretation domain definition, 2026-05-13.</a:t>
            </a:r>
          </a:p>
          <a:p xmlns:a="http://schemas.openxmlformats.org/drawingml/2006/main">
            <a:r>
              <a:t>- Mimris AKM / POPS method as described in the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AI story is acceleration with control, not ungoverned diagram generation. The live demo should follow this exact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Mimris AI Workspace modelling sequence supplied in the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handoff from process modelling to workplace modelling. It should make IRTV immediately practical for the Computas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Equinor OSDU Seismic Interpretation domain definition, 2026-05-13.</a:t>
            </a:r>
          </a:p>
          <a:p xmlns:a="http://schemas.openxmlformats.org/drawingml/2006/main">
            <a:r>
              <a:t>- IRTV decomposition proposed in the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strategic continuity slide: same model-based principles, now much faster and more systematic. Do not claim quantified savings without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Equinor_AMAP_Accelerator_Case_Study.pptx, slides 9–11 (user-supplied).</a:t>
            </a:r>
          </a:p>
          <a:p xmlns:a="http://schemas.openxmlformats.org/drawingml/2006/main">
            <a:r>
              <a:t>- Mimris AI Workspace evolution described in the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agreement on a focused workshop/pilot, then transition immediately into the live demo using the actual seismic domain. Suggested wording: Rather than describe how this could work, I will show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Pilot structure proposed in the referenced conversation.</a:t>
            </a:r>
          </a:p>
          <a:p xmlns:a="http://schemas.openxmlformats.org/drawingml/2006/main">
            <a:r>
              <a:t>- Equinor_AMAP_Accelerator_Case_Study.pptx, slide 11 (user-supplied).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evidence for detailed questions about the earlier Equinor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Equinor_AMAP_Accelerator_Case_Study.pptx, slide 7 (user-supplied).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as supporting evidence. The current opportunity is not only schema extension; it is modelling the full operating context around OSDU.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OSDU_WellLog_Acquisition_Refurbished.pptx, slides 6–9; screenshot from slide 8 (user-supplied).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the audience asks for the modelling methodology behind the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AKM POPS and IRTV definitions supplied in the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defines a deliberately bounded pilot without inventing duration or commercial terms. Agree those jointly after scoping.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Pilot scope synthesized from the user-provided process description and referenced conversation.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6f9342c9c4e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26eeaa00164612" /><Relationship Type="http://schemas.openxmlformats.org/officeDocument/2006/relationships/slideLayout" Target="/ppt/slideLayouts/slideLayout1.xml" Id="R740b6ad89b91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0b6ad89b91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65c88011a4175" /><Relationship Type="http://schemas.openxmlformats.org/officeDocument/2006/relationships/notesSlide" Target="/ppt/notesSlides/notesSlide1.xml" Id="R257f2be26c2c48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064e10f4446cd" /><Relationship Type="http://schemas.openxmlformats.org/officeDocument/2006/relationships/image" Target="/ppt/media/image.png" Id="Rdd6d3fe4d9b94891" /><Relationship Type="http://schemas.openxmlformats.org/officeDocument/2006/relationships/notesSlide" Target="/ppt/notesSlides/notesSlide2.xml" Id="Rdf1a51a3c6124b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34d08a2954c2e" /><Relationship Type="http://schemas.openxmlformats.org/officeDocument/2006/relationships/notesSlide" Target="/ppt/notesSlides/notesSlide3.xml" Id="R54efc58c628945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0eedc2b564951" /><Relationship Type="http://schemas.openxmlformats.org/officeDocument/2006/relationships/notesSlide" Target="/ppt/notesSlides/notesSlide4.xml" Id="Rf5447232ab6146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1b9e90ac540c6" /><Relationship Type="http://schemas.openxmlformats.org/officeDocument/2006/relationships/notesSlide" Target="/ppt/notesSlides/notesSlide5.xml" Id="R90b7a2d4e2dd4c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4328b317b4e2f" /><Relationship Type="http://schemas.openxmlformats.org/officeDocument/2006/relationships/notesSlide" Target="/ppt/notesSlides/notesSlide6.xml" Id="Rfe0d0a9b84a74e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c27a77e9d4888" /><Relationship Type="http://schemas.openxmlformats.org/officeDocument/2006/relationships/notesSlide" Target="/ppt/notesSlides/notesSlide7.xml" Id="Rac4acfd8fd934f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9a9a18162459a" /><Relationship Type="http://schemas.openxmlformats.org/officeDocument/2006/relationships/notesSlide" Target="/ppt/notesSlides/notesSlide8.xml" Id="R0c61032e164848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c0b86c88c4c52" /><Relationship Type="http://schemas.openxmlformats.org/officeDocument/2006/relationships/notesSlide" Target="/ppt/notesSlides/notesSlide9.xml" Id="R723099a93ec84c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a26519fbe4258" /><Relationship Type="http://schemas.openxmlformats.org/officeDocument/2006/relationships/image" Target="/ppt/media/image2.png" Id="R08069e876f9b4dd8" /><Relationship Type="http://schemas.openxmlformats.org/officeDocument/2006/relationships/notesSlide" Target="/ppt/notesSlides/notesSlide10.xml" Id="R3c6060a4773d4d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5504c975a4ff0" /><Relationship Type="http://schemas.openxmlformats.org/officeDocument/2006/relationships/image" Target="/ppt/media/image3.png" Id="R0066c2bd14d546b7" /><Relationship Type="http://schemas.openxmlformats.org/officeDocument/2006/relationships/notesSlide" Target="/ppt/notesSlides/notesSlide11.xml" Id="R51104b7c63934b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8033b511040ec" /><Relationship Type="http://schemas.openxmlformats.org/officeDocument/2006/relationships/notesSlide" Target="/ppt/notesSlides/notesSlide12.xml" Id="R9c755a53f0cc47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47119f7964105" /><Relationship Type="http://schemas.openxmlformats.org/officeDocument/2006/relationships/notesSlide" Target="/ppt/notesSlides/notesSlide13.xml" Id="R7c6951f22ca249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CC5264B-F2F7-4FA4-BE46-CFEE8E63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COMPUTAS</a:t>
            </a: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 × MIMRIS × EQUINOR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6B51444-B98F-4ED6-ACE1-F2C6C963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From OSDU data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to operational work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17FF1EA-7D28-420E-9BD5-EF31EEC3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5000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Mimris AI Workspace for modelling processes, roles, information, systems and workplaces around OSDU.</a:t>
            </a:r>
          </a:p>
        </p:txBody>
      </p:sp>
      <p:sp>
        <p:nvSpPr>
          <p:cNvPr id="4" name="cover-date">
            <a:extLst xmlns:a="http://schemas.openxmlformats.org/drawingml/2006/main">
              <a:ext uri="{FF2B5EF4-FFF2-40B4-BE49-F238E27FC236}">
                <a16:creationId xmlns:a16="http://schemas.microsoft.com/office/drawing/2014/main" id="{7AB322F4-605B-457F-852B-86BE87E0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Draft for </a:t>
            </a: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Computas</a:t>
            </a: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 presentation · 28 August 2026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1D2B07DE-C863-465F-8355-E84C053E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0"/>
            <a:ext cx="5981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6" name="cover-osdu">
            <a:extLst xmlns:a="http://schemas.openxmlformats.org/drawingml/2006/main">
              <a:ext uri="{FF2B5EF4-FFF2-40B4-BE49-F238E27FC236}">
                <a16:creationId xmlns:a16="http://schemas.microsoft.com/office/drawing/2014/main" id="{3617C712-5C8F-4185-9185-65A645C3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10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OSDU</a:t>
            </a:r>
          </a:p>
        </p:txBody>
      </p:sp>
      <p:sp>
        <p:nvSpPr>
          <p:cNvPr id="7" name="cover-sor">
            <a:extLst xmlns:a="http://schemas.openxmlformats.org/drawingml/2006/main">
              <a:ext uri="{FF2B5EF4-FFF2-40B4-BE49-F238E27FC236}">
                <a16:creationId xmlns:a16="http://schemas.microsoft.com/office/drawing/2014/main" id="{51069B37-2490-4F80-8C07-F3E3BAFD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5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rPr>
              <a:t>SYSTEM OF RECORD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6858000" y="1828800"/>
            <a:ext cx="445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C"/>
            </a:solidFill>
            <a:prstDash val="solid"/>
          </a:ln>
        </p:spPr>
      </p:cxnSp>
      <p:sp>
        <p:nvSpPr>
          <p:cNvPr id="9" name="cover-input-box">
            <a:extLst xmlns:a="http://schemas.openxmlformats.org/drawingml/2006/main">
              <a:ext uri="{FF2B5EF4-FFF2-40B4-BE49-F238E27FC236}">
                <a16:creationId xmlns:a16="http://schemas.microsoft.com/office/drawing/2014/main" id="{B9D82BA5-3741-4EC9-9001-EF33D04B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445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2C4B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0" name="cover-input-accent">
            <a:extLst xmlns:a="http://schemas.openxmlformats.org/drawingml/2006/main">
              <a:ext uri="{FF2B5EF4-FFF2-40B4-BE49-F238E27FC236}">
                <a16:creationId xmlns:a16="http://schemas.microsoft.com/office/drawing/2014/main" id="{AF389774-AA6B-487E-8FC2-6067A3E2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1" name="cover-input-label">
            <a:extLst xmlns:a="http://schemas.openxmlformats.org/drawingml/2006/main">
              <a:ext uri="{FF2B5EF4-FFF2-40B4-BE49-F238E27FC236}">
                <a16:creationId xmlns:a16="http://schemas.microsoft.com/office/drawing/2014/main" id="{3CA62500-4BBC-4D08-A3B3-C73FA567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14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Authoritative data</a:t>
            </a:r>
          </a:p>
        </p:txBody>
      </p:sp>
      <p:sp>
        <p:nvSpPr>
          <p:cNvPr id="12" name="cover-input-sub">
            <a:extLst xmlns:a="http://schemas.openxmlformats.org/drawingml/2006/main">
              <a:ext uri="{FF2B5EF4-FFF2-40B4-BE49-F238E27FC236}">
                <a16:creationId xmlns:a16="http://schemas.microsoft.com/office/drawing/2014/main" id="{4FFB5562-D743-4D10-B1B4-9BB16F3C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rPr>
              <a:t>Seismic volumes · velocity cubes</a:t>
            </a:r>
          </a:p>
        </p:txBody>
      </p:sp>
      <p:sp>
        <p:nvSpPr>
          <p:cNvPr id="13" name="cover-work-box">
            <a:extLst xmlns:a="http://schemas.openxmlformats.org/drawingml/2006/main">
              <a:ext uri="{FF2B5EF4-FFF2-40B4-BE49-F238E27FC236}">
                <a16:creationId xmlns:a16="http://schemas.microsoft.com/office/drawing/2014/main" id="{43D6C7AB-3B5A-41E6-9F81-3D7DFC2C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445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2C4B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4" name="cover-work-accent">
            <a:extLst xmlns:a="http://schemas.openxmlformats.org/drawingml/2006/main">
              <a:ext uri="{FF2B5EF4-FFF2-40B4-BE49-F238E27FC236}">
                <a16:creationId xmlns:a16="http://schemas.microsoft.com/office/drawing/2014/main" id="{4F82868F-A98D-4FAB-A024-23B83740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5" name="cover-work-label">
            <a:extLst xmlns:a="http://schemas.openxmlformats.org/drawingml/2006/main">
              <a:ext uri="{FF2B5EF4-FFF2-40B4-BE49-F238E27FC236}">
                <a16:creationId xmlns:a16="http://schemas.microsoft.com/office/drawing/2014/main" id="{11A83EFD-7DDE-47BC-A796-8B456BB5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480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Project space</a:t>
            </a:r>
          </a:p>
        </p:txBody>
      </p:sp>
      <p:sp>
        <p:nvSpPr>
          <p:cNvPr id="16" name="cover-work-sub">
            <a:extLst xmlns:a="http://schemas.openxmlformats.org/drawingml/2006/main">
              <a:ext uri="{FF2B5EF4-FFF2-40B4-BE49-F238E27FC236}">
                <a16:creationId xmlns:a16="http://schemas.microsoft.com/office/drawing/2014/main" id="{C64EA2D9-3BC9-4E18-96BE-1B26CDE9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rPr>
              <a:t>Interpret · grid · convert · validate</a:t>
            </a:r>
          </a:p>
        </p:txBody>
      </p:sp>
      <p:sp>
        <p:nvSpPr>
          <p:cNvPr id="17" name="cover-output-box">
            <a:extLst xmlns:a="http://schemas.openxmlformats.org/drawingml/2006/main">
              <a:ext uri="{FF2B5EF4-FFF2-40B4-BE49-F238E27FC236}">
                <a16:creationId xmlns:a16="http://schemas.microsoft.com/office/drawing/2014/main" id="{C547F15B-F1B3-47DC-A69D-1CAC9BD2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4457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2C4B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8" name="cover-output-accent">
            <a:extLst xmlns:a="http://schemas.openxmlformats.org/drawingml/2006/main">
              <a:ext uri="{FF2B5EF4-FFF2-40B4-BE49-F238E27FC236}">
                <a16:creationId xmlns:a16="http://schemas.microsoft.com/office/drawing/2014/main" id="{213DE28A-0F01-4157-9E4D-E60482F5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9" name="cover-output-label">
            <a:extLst xmlns:a="http://schemas.openxmlformats.org/drawingml/2006/main">
              <a:ext uri="{FF2B5EF4-FFF2-40B4-BE49-F238E27FC236}">
                <a16:creationId xmlns:a16="http://schemas.microsoft.com/office/drawing/2014/main" id="{AF0F83DB-A3D1-4B15-AE92-7136D9F6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81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Reusable outputs</a:t>
            </a:r>
          </a:p>
        </p:txBody>
      </p:sp>
      <p:sp>
        <p:nvSpPr>
          <p:cNvPr id="20" name="cover-output-sub">
            <a:extLst xmlns:a="http://schemas.openxmlformats.org/drawingml/2006/main">
              <a:ext uri="{FF2B5EF4-FFF2-40B4-BE49-F238E27FC236}">
                <a16:creationId xmlns:a16="http://schemas.microsoft.com/office/drawing/2014/main" id="{B7348767-C9FE-449F-8ECF-A84178E9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34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C7D5"/>
                </a:solidFill>
                <a:latin typeface="Helvetica Neue"/>
                <a:ea typeface="Helvetica Neue"/>
                <a:cs typeface="Helvetica Neue"/>
              </a:rPr>
              <a:t>TVDSS surfaces · depth-corrected faults</a:t>
            </a:r>
          </a:p>
        </p:txBody>
      </p:sp>
      <p:sp>
        <p:nvSpPr>
          <p:cNvPr id="21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49573BCB-6689-4570-8B44-A2E85241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72200"/>
            <a:ext cx="445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Mimris models the work around the data.</a:t>
            </a:r>
          </a:p>
        </p:txBody>
      </p:sp>
    </p:spTree>
    <p:extLst>
      <p:ext uri="{BB962C8B-B14F-4D97-AF65-F5344CB8AC3E}">
        <p14:creationId xmlns:p14="http://schemas.microsoft.com/office/powerpoint/2010/main" val="1070455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2">
            <a:extLst xmlns:a="http://schemas.openxmlformats.org/drawingml/2006/main">
              <a:ext uri="{FF2B5EF4-FFF2-40B4-BE49-F238E27FC236}">
                <a16:creationId xmlns:a16="http://schemas.microsoft.com/office/drawing/2014/main" id="{55326EE9-67E8-45EC-9079-E397E199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PREVIOUS PROOF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32AE07F-E051-45C4-8E0F-EA744435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Equinor has already seen the model-based principle work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D19C086E-33E8-45F0-B8B5-A01CA8E1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s2-lead">
            <a:extLst xmlns:a="http://schemas.openxmlformats.org/drawingml/2006/main">
              <a:ext uri="{FF2B5EF4-FFF2-40B4-BE49-F238E27FC236}">
                <a16:creationId xmlns:a16="http://schemas.microsoft.com/office/drawing/2014/main" id="{B8446397-1FD9-4159-9ABF-0374E070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The Kavca / AMAP accelerator connected outcomes, roles, tasks, information and decisions in one shared model.</a:t>
            </a:r>
          </a:p>
        </p:txBody>
      </p:sp>
      <p:sp>
        <p:nvSpPr>
          <p:cNvPr id="6" name="s2-a-box">
            <a:extLst xmlns:a="http://schemas.openxmlformats.org/drawingml/2006/main">
              <a:ext uri="{FF2B5EF4-FFF2-40B4-BE49-F238E27FC236}">
                <a16:creationId xmlns:a16="http://schemas.microsoft.com/office/drawing/2014/main" id="{66915863-C510-44EA-8A34-D564AFE0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4048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7" name="s2-a-accent">
            <a:extLst xmlns:a="http://schemas.openxmlformats.org/drawingml/2006/main">
              <a:ext uri="{FF2B5EF4-FFF2-40B4-BE49-F238E27FC236}">
                <a16:creationId xmlns:a16="http://schemas.microsoft.com/office/drawing/2014/main" id="{BA94B5F1-217B-40BE-AC01-A04A4EB2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s2-a-label">
            <a:extLst xmlns:a="http://schemas.openxmlformats.org/drawingml/2006/main">
              <a:ext uri="{FF2B5EF4-FFF2-40B4-BE49-F238E27FC236}">
                <a16:creationId xmlns:a16="http://schemas.microsoft.com/office/drawing/2014/main" id="{F00EDDC5-0334-439C-B60D-883C91D5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Shared outcome</a:t>
            </a:r>
          </a:p>
        </p:txBody>
      </p:sp>
      <p:sp>
        <p:nvSpPr>
          <p:cNvPr id="9" name="s2-a-sub">
            <a:extLst xmlns:a="http://schemas.openxmlformats.org/drawingml/2006/main">
              <a:ext uri="{FF2B5EF4-FFF2-40B4-BE49-F238E27FC236}">
                <a16:creationId xmlns:a16="http://schemas.microsoft.com/office/drawing/2014/main" id="{A9373BE4-1B6C-4D6D-9D37-5F22753E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3686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One decision context across disciplines</a:t>
            </a:r>
          </a:p>
        </p:txBody>
      </p:sp>
      <p:sp>
        <p:nvSpPr>
          <p:cNvPr id="10" name="s2-b-box">
            <a:extLst xmlns:a="http://schemas.openxmlformats.org/drawingml/2006/main">
              <a:ext uri="{FF2B5EF4-FFF2-40B4-BE49-F238E27FC236}">
                <a16:creationId xmlns:a16="http://schemas.microsoft.com/office/drawing/2014/main" id="{2F6104C9-2031-46C7-9EC4-454CD4D5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43350"/>
            <a:ext cx="4048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1" name="s2-b-accent">
            <a:extLst xmlns:a="http://schemas.openxmlformats.org/drawingml/2006/main">
              <a:ext uri="{FF2B5EF4-FFF2-40B4-BE49-F238E27FC236}">
                <a16:creationId xmlns:a16="http://schemas.microsoft.com/office/drawing/2014/main" id="{B3C47629-D1B6-49E3-9A86-56A00AD9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433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2" name="s2-b-label">
            <a:extLst xmlns:a="http://schemas.openxmlformats.org/drawingml/2006/main">
              <a:ext uri="{FF2B5EF4-FFF2-40B4-BE49-F238E27FC236}">
                <a16:creationId xmlns:a16="http://schemas.microsoft.com/office/drawing/2014/main" id="{CD88AB61-CE15-4CAE-A40F-EF733258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Visible dependencies</a:t>
            </a:r>
          </a:p>
        </p:txBody>
      </p:sp>
      <p:sp>
        <p:nvSpPr>
          <p:cNvPr id="13" name="s2-b-sub">
            <a:extLst xmlns:a="http://schemas.openxmlformats.org/drawingml/2006/main">
              <a:ext uri="{FF2B5EF4-FFF2-40B4-BE49-F238E27FC236}">
                <a16:creationId xmlns:a16="http://schemas.microsoft.com/office/drawing/2014/main" id="{F76D9EAA-4A05-4217-93D7-D3E0072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67225"/>
            <a:ext cx="3686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Changing inputs and coupled parameters</a:t>
            </a:r>
          </a:p>
        </p:txBody>
      </p:sp>
      <p:sp>
        <p:nvSpPr>
          <p:cNvPr id="14" name="s2-c-box">
            <a:extLst xmlns:a="http://schemas.openxmlformats.org/drawingml/2006/main">
              <a:ext uri="{FF2B5EF4-FFF2-40B4-BE49-F238E27FC236}">
                <a16:creationId xmlns:a16="http://schemas.microsoft.com/office/drawing/2014/main" id="{64F0A696-E855-459E-85B4-4A82A4C1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4048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8D8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5" name="s2-c-accent">
            <a:extLst xmlns:a="http://schemas.openxmlformats.org/drawingml/2006/main">
              <a:ext uri="{FF2B5EF4-FFF2-40B4-BE49-F238E27FC236}">
                <a16:creationId xmlns:a16="http://schemas.microsoft.com/office/drawing/2014/main" id="{E7D860A1-DA58-4013-8C14-98FAA3B5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6" name="s2-c-label">
            <a:extLst xmlns:a="http://schemas.openxmlformats.org/drawingml/2006/main">
              <a:ext uri="{FF2B5EF4-FFF2-40B4-BE49-F238E27FC236}">
                <a16:creationId xmlns:a16="http://schemas.microsoft.com/office/drawing/2014/main" id="{48BD45FC-8BA6-43EF-B902-763556A2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Role-specific execution</a:t>
            </a:r>
          </a:p>
        </p:txBody>
      </p:sp>
      <p:sp>
        <p:nvSpPr>
          <p:cNvPr id="17" name="s2-c-sub">
            <a:extLst xmlns:a="http://schemas.openxmlformats.org/drawingml/2006/main">
              <a:ext uri="{FF2B5EF4-FFF2-40B4-BE49-F238E27FC236}">
                <a16:creationId xmlns:a16="http://schemas.microsoft.com/office/drawing/2014/main" id="{6FCA4445-566C-4A45-AAC2-2A6E52E2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3686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Each participant saw the right tasks and views</a:t>
            </a:r>
          </a:p>
        </p:txBody>
      </p:sp>
      <p:sp>
        <p:nvSpPr>
          <p:cNvPr id="18" name="s2-img-frame">
            <a:extLst xmlns:a="http://schemas.openxmlformats.org/drawingml/2006/main">
              <a:ext uri="{FF2B5EF4-FFF2-40B4-BE49-F238E27FC236}">
                <a16:creationId xmlns:a16="http://schemas.microsoft.com/office/drawing/2014/main" id="{74AFEC62-2FE8-451A-9ABE-D49FADCB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81150"/>
            <a:ext cx="6838950" cy="4181475"/>
          </a:xfrm>
          <a:prstGeom xmlns:a="http://schemas.openxmlformats.org/drawingml/2006/main" prst="roundRect">
            <a:avLst>
              <a:gd name="adj" fmla="val 273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d3fe4d9b94891"/>
          <a:stretch xmlns:a="http://schemas.openxmlformats.org/drawingml/2006/main"/>
        </p:blipFill>
        <p:spPr>
          <a:xfrm xmlns:a="http://schemas.openxmlformats.org/drawingml/2006/main">
            <a:off x="5067300" y="1823442"/>
            <a:ext cx="6572250" cy="3696891"/>
          </a:xfrm>
          <a:prstGeom xmlns:a="http://schemas.openxmlformats.org/drawingml/2006/main" prst="roundRect">
            <a:avLst>
              <a:gd name="adj" fmla="val 1946"/>
            </a:avLst>
          </a:prstGeom>
        </p:spPr>
      </p:pic>
      <p:sp>
        <p:nvSpPr>
          <p:cNvPr id="20" name="s2-caption">
            <a:extLst xmlns:a="http://schemas.openxmlformats.org/drawingml/2006/main">
              <a:ext uri="{FF2B5EF4-FFF2-40B4-BE49-F238E27FC236}">
                <a16:creationId xmlns:a16="http://schemas.microsoft.com/office/drawing/2014/main" id="{17B0F08D-323A-4B8A-A84F-77F3E29F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293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AMAP demonstrator: the same case through task-specific workplaces</a:t>
            </a:r>
          </a:p>
        </p:txBody>
      </p:sp>
    </p:spTree>
    <p:extLst>
      <p:ext uri="{BB962C8B-B14F-4D97-AF65-F5344CB8AC3E}">
        <p14:creationId xmlns:p14="http://schemas.microsoft.com/office/powerpoint/2010/main" val="1874807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3">
            <a:extLst xmlns:a="http://schemas.openxmlformats.org/drawingml/2006/main">
              <a:ext uri="{FF2B5EF4-FFF2-40B4-BE49-F238E27FC236}">
                <a16:creationId xmlns:a16="http://schemas.microsoft.com/office/drawing/2014/main" id="{EB2DAE65-71C6-4510-89E3-297009B8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908076F-CF06-4F6B-B6C2-630312DE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The OSDU process has the same collaboration challenge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1C6A82A-8A7A-4DB5-BA6D-8D8F2A97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s3-num-0">
            <a:extLst xmlns:a="http://schemas.openxmlformats.org/drawingml/2006/main">
              <a:ext uri="{FF2B5EF4-FFF2-40B4-BE49-F238E27FC236}">
                <a16:creationId xmlns:a16="http://schemas.microsoft.com/office/drawing/2014/main" id="{06B37C3C-AB0E-4760-A2CC-21DC9A28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s3-head-0">
            <a:extLst xmlns:a="http://schemas.openxmlformats.org/drawingml/2006/main">
              <a:ext uri="{FF2B5EF4-FFF2-40B4-BE49-F238E27FC236}">
                <a16:creationId xmlns:a16="http://schemas.microsoft.com/office/drawing/2014/main" id="{3BAFB9B3-2D5C-475B-9163-5EFFA36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Changing inputs</a:t>
            </a:r>
          </a:p>
        </p:txBody>
      </p:sp>
      <p:sp>
        <p:nvSpPr>
          <p:cNvPr id="7" name="s3-body-0">
            <a:extLst xmlns:a="http://schemas.openxmlformats.org/drawingml/2006/main">
              <a:ext uri="{FF2B5EF4-FFF2-40B4-BE49-F238E27FC236}">
                <a16:creationId xmlns:a16="http://schemas.microsoft.com/office/drawing/2014/main" id="{9816CAD6-48FC-4F55-AC90-4BA6AC6E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Interpretations, seismic volumes and velocity models evolve.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19100" y="3076575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9" name="s3-num-1">
            <a:extLst xmlns:a="http://schemas.openxmlformats.org/drawingml/2006/main">
              <a:ext uri="{FF2B5EF4-FFF2-40B4-BE49-F238E27FC236}">
                <a16:creationId xmlns:a16="http://schemas.microsoft.com/office/drawing/2014/main" id="{41D44962-6ABB-4E1B-BD81-4A6180A9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s3-head-1">
            <a:extLst xmlns:a="http://schemas.openxmlformats.org/drawingml/2006/main">
              <a:ext uri="{FF2B5EF4-FFF2-40B4-BE49-F238E27FC236}">
                <a16:creationId xmlns:a16="http://schemas.microsoft.com/office/drawing/2014/main" id="{3F7E417B-7826-448C-9226-F5D09249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954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Coupled parameters</a:t>
            </a:r>
          </a:p>
        </p:txBody>
      </p:sp>
      <p:sp>
        <p:nvSpPr>
          <p:cNvPr id="11" name="s3-body-1">
            <a:extLst xmlns:a="http://schemas.openxmlformats.org/drawingml/2006/main">
              <a:ext uri="{FF2B5EF4-FFF2-40B4-BE49-F238E27FC236}">
                <a16:creationId xmlns:a16="http://schemas.microsoft.com/office/drawing/2014/main" id="{38CB2643-6F29-4CE8-90A6-59115813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T2D results depend on inputs, assumptions and versions.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6191250" y="3076575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13" name="s3-num-2">
            <a:extLst xmlns:a="http://schemas.openxmlformats.org/drawingml/2006/main">
              <a:ext uri="{FF2B5EF4-FFF2-40B4-BE49-F238E27FC236}">
                <a16:creationId xmlns:a16="http://schemas.microsoft.com/office/drawing/2014/main" id="{5C51A9D1-BD13-4BDD-8A46-D1114342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81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s3-head-2">
            <a:extLst xmlns:a="http://schemas.openxmlformats.org/drawingml/2006/main">
              <a:ext uri="{FF2B5EF4-FFF2-40B4-BE49-F238E27FC236}">
                <a16:creationId xmlns:a16="http://schemas.microsoft.com/office/drawing/2014/main" id="{358E2B7A-D268-44D9-8D26-6C4DFFED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814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Role handoffs</a:t>
            </a:r>
          </a:p>
        </p:txBody>
      </p:sp>
      <p:sp>
        <p:nvSpPr>
          <p:cNvPr id="15" name="s3-body-2">
            <a:extLst xmlns:a="http://schemas.openxmlformats.org/drawingml/2006/main">
              <a:ext uri="{FF2B5EF4-FFF2-40B4-BE49-F238E27FC236}">
                <a16:creationId xmlns:a16="http://schemas.microsoft.com/office/drawing/2014/main" id="{FAB2756A-89E1-403C-99D1-F402B56C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95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Interpreters, velocity specialists and data stewards coordinate.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419100" y="5162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17" name="s3-num-3">
            <a:extLst xmlns:a="http://schemas.openxmlformats.org/drawingml/2006/main">
              <a:ext uri="{FF2B5EF4-FFF2-40B4-BE49-F238E27FC236}">
                <a16:creationId xmlns:a16="http://schemas.microsoft.com/office/drawing/2014/main" id="{B5112518-DC72-4F80-A4C7-31D5389B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s3-head-3">
            <a:extLst xmlns:a="http://schemas.openxmlformats.org/drawingml/2006/main">
              <a:ext uri="{FF2B5EF4-FFF2-40B4-BE49-F238E27FC236}">
                <a16:creationId xmlns:a16="http://schemas.microsoft.com/office/drawing/2014/main" id="{D1A1788B-8A7E-4ECD-8CB3-DA8BADF5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814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Fragmented context</a:t>
            </a:r>
          </a:p>
        </p:txBody>
      </p:sp>
      <p:sp>
        <p:nvSpPr>
          <p:cNvPr id="19" name="s3-body-3">
            <a:extLst xmlns:a="http://schemas.openxmlformats.org/drawingml/2006/main">
              <a:ext uri="{FF2B5EF4-FFF2-40B4-BE49-F238E27FC236}">
                <a16:creationId xmlns:a16="http://schemas.microsoft.com/office/drawing/2014/main" id="{0B32B1E3-BB66-48BB-96FD-F25E3BB3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195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Authoritative data and execution live in different environments.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6191250" y="5162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DF22"/>
            </a:solidFill>
            <a:prstDash val="solid"/>
          </a:ln>
        </p:spPr>
      </p:cxnSp>
      <p:sp>
        <p:nvSpPr>
          <p:cNvPr id="21" name="s3-bottom">
            <a:extLst xmlns:a="http://schemas.openxmlformats.org/drawingml/2006/main">
              <a:ext uri="{FF2B5EF4-FFF2-40B4-BE49-F238E27FC236}">
                <a16:creationId xmlns:a16="http://schemas.microsoft.com/office/drawing/2014/main" id="{89CF614B-E6B2-4F27-8B21-6FFF086D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15000"/>
            <a:ext cx="7543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22" name="s3-bottom-text">
            <a:extLst xmlns:a="http://schemas.openxmlformats.org/drawingml/2006/main">
              <a:ext uri="{FF2B5EF4-FFF2-40B4-BE49-F238E27FC236}">
                <a16:creationId xmlns:a16="http://schemas.microsoft.com/office/drawing/2014/main" id="{EFF21134-DF4F-4F54-91EB-39AD47F6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867400"/>
            <a:ext cx="710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problem is not a missing data platform — it is a missing model of the work.</a:t>
            </a:r>
          </a:p>
        </p:txBody>
      </p:sp>
    </p:spTree>
    <p:extLst>
      <p:ext uri="{BB962C8B-B14F-4D97-AF65-F5344CB8AC3E}">
        <p14:creationId xmlns:p14="http://schemas.microsoft.com/office/powerpoint/2010/main" val="252247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kicker-4">
            <a:extLst xmlns:a="http://schemas.openxmlformats.org/drawingml/2006/main">
              <a:ext uri="{FF2B5EF4-FFF2-40B4-BE49-F238E27FC236}">
                <a16:creationId xmlns:a16="http://schemas.microsoft.com/office/drawing/2014/main" id="{6F4A5A81-8D78-4CA3-B4B3-BCD4CD3C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CURRENT EQUINOR PROCESS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AD48DBD-DFFB-42D8-BBA6-8B1A52AB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OSDU anchors a repeatable extract–work–publish cycle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E17A21CA-9F28-41D8-94C1-70E12EE5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s4-osdu-top">
            <a:extLst xmlns:a="http://schemas.openxmlformats.org/drawingml/2006/main">
              <a:ext uri="{FF2B5EF4-FFF2-40B4-BE49-F238E27FC236}">
                <a16:creationId xmlns:a16="http://schemas.microsoft.com/office/drawing/2014/main" id="{B9551A04-3179-447E-A0F7-76594BE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1353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6" name="s4-osdu-top-title">
            <a:extLst xmlns:a="http://schemas.openxmlformats.org/drawingml/2006/main">
              <a:ext uri="{FF2B5EF4-FFF2-40B4-BE49-F238E27FC236}">
                <a16:creationId xmlns:a16="http://schemas.microsoft.com/office/drawing/2014/main" id="{E50C0E94-36F2-411A-9700-18A06739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OSDU · SYSTEM OF RECORD</a:t>
            </a:r>
          </a:p>
        </p:txBody>
      </p:sp>
      <p:sp>
        <p:nvSpPr>
          <p:cNvPr id="7" name="s4-osdu-top-data">
            <a:extLst xmlns:a="http://schemas.openxmlformats.org/drawingml/2006/main">
              <a:ext uri="{FF2B5EF4-FFF2-40B4-BE49-F238E27FC236}">
                <a16:creationId xmlns:a16="http://schemas.microsoft.com/office/drawing/2014/main" id="{09E859BC-C2E6-41C7-978D-CB7E1786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45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5C7F0"/>
                </a:solidFill>
                <a:latin typeface="Helvetica Neue"/>
                <a:ea typeface="Helvetica Neue"/>
                <a:cs typeface="Helvetica Neue"/>
              </a:rPr>
              <a:t>Seismic volumes (3D/4D)  ·  Imaging velocity cubes</a:t>
            </a:r>
          </a:p>
        </p:txBody>
      </p:sp>
      <p:sp>
        <p:nvSpPr>
          <p:cNvPr id="8" name="s4-step-0">
            <a:extLst xmlns:a="http://schemas.openxmlformats.org/drawingml/2006/main">
              <a:ext uri="{FF2B5EF4-FFF2-40B4-BE49-F238E27FC236}">
                <a16:creationId xmlns:a16="http://schemas.microsoft.com/office/drawing/2014/main" id="{E3CC779A-14E6-4364-A214-6D6F3FAB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9" name="s4-step-n-0">
            <a:extLst xmlns:a="http://schemas.openxmlformats.org/drawingml/2006/main">
              <a:ext uri="{FF2B5EF4-FFF2-40B4-BE49-F238E27FC236}">
                <a16:creationId xmlns:a16="http://schemas.microsoft.com/office/drawing/2014/main" id="{58852393-9B96-4507-9734-7821BA65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s4-step-h-0">
            <a:extLst xmlns:a="http://schemas.openxmlformats.org/drawingml/2006/main">
              <a:ext uri="{FF2B5EF4-FFF2-40B4-BE49-F238E27FC236}">
                <a16:creationId xmlns:a16="http://schemas.microsoft.com/office/drawing/2014/main" id="{80B89E8F-DD5F-414F-90B2-EB1E4BBF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1" name="s4-step-b-0">
            <a:extLst xmlns:a="http://schemas.openxmlformats.org/drawingml/2006/main">
              <a:ext uri="{FF2B5EF4-FFF2-40B4-BE49-F238E27FC236}">
                <a16:creationId xmlns:a16="http://schemas.microsoft.com/office/drawing/2014/main" id="{E76CD176-31D9-48E8-A02D-4B196970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Select and stage</a:t>
            </a:r>
          </a:p>
        </p:txBody>
      </p:sp>
      <p:sp>
        <p:nvSpPr>
          <p:cNvPr id="12" name="s4-arrow-1">
            <a:extLst xmlns:a="http://schemas.openxmlformats.org/drawingml/2006/main">
              <a:ext uri="{FF2B5EF4-FFF2-40B4-BE49-F238E27FC236}">
                <a16:creationId xmlns:a16="http://schemas.microsoft.com/office/drawing/2014/main" id="{E623605B-E67B-4FE5-9C98-4A15B976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76625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3" name="s4-step-1">
            <a:extLst xmlns:a="http://schemas.openxmlformats.org/drawingml/2006/main">
              <a:ext uri="{FF2B5EF4-FFF2-40B4-BE49-F238E27FC236}">
                <a16:creationId xmlns:a16="http://schemas.microsoft.com/office/drawing/2014/main" id="{0A0DED94-10B1-4113-810F-F0DBE823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4" name="s4-step-n-1">
            <a:extLst xmlns:a="http://schemas.openxmlformats.org/drawingml/2006/main">
              <a:ext uri="{FF2B5EF4-FFF2-40B4-BE49-F238E27FC236}">
                <a16:creationId xmlns:a16="http://schemas.microsoft.com/office/drawing/2014/main" id="{6FB89C1D-63B9-4DC1-A461-2601BF13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s4-step-h-1">
            <a:extLst xmlns:a="http://schemas.openxmlformats.org/drawingml/2006/main">
              <a:ext uri="{FF2B5EF4-FFF2-40B4-BE49-F238E27FC236}">
                <a16:creationId xmlns:a16="http://schemas.microsoft.com/office/drawing/2014/main" id="{73EF2ADD-3763-4499-B7A9-4FCD01A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Interpret</a:t>
            </a:r>
          </a:p>
        </p:txBody>
      </p:sp>
      <p:sp>
        <p:nvSpPr>
          <p:cNvPr id="16" name="s4-step-b-1">
            <a:extLst xmlns:a="http://schemas.openxmlformats.org/drawingml/2006/main">
              <a:ext uri="{FF2B5EF4-FFF2-40B4-BE49-F238E27FC236}">
                <a16:creationId xmlns:a16="http://schemas.microsoft.com/office/drawing/2014/main" id="{C8FFA8CE-5FBA-45EF-860C-37960556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Horizon picks + faults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 TWT</a:t>
            </a:r>
          </a:p>
        </p:txBody>
      </p:sp>
      <p:sp>
        <p:nvSpPr>
          <p:cNvPr id="17" name="s4-arrow-2">
            <a:extLst xmlns:a="http://schemas.openxmlformats.org/drawingml/2006/main">
              <a:ext uri="{FF2B5EF4-FFF2-40B4-BE49-F238E27FC236}">
                <a16:creationId xmlns:a16="http://schemas.microsoft.com/office/drawing/2014/main" id="{66A05C8D-F9A7-404F-8BBA-87A37EC3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476625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8" name="s4-step-2">
            <a:extLst xmlns:a="http://schemas.openxmlformats.org/drawingml/2006/main">
              <a:ext uri="{FF2B5EF4-FFF2-40B4-BE49-F238E27FC236}">
                <a16:creationId xmlns:a16="http://schemas.microsoft.com/office/drawing/2014/main" id="{FA9AD674-E29E-431D-9BBE-B968B47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9" name="s4-step-n-2">
            <a:extLst xmlns:a="http://schemas.openxmlformats.org/drawingml/2006/main">
              <a:ext uri="{FF2B5EF4-FFF2-40B4-BE49-F238E27FC236}">
                <a16:creationId xmlns:a16="http://schemas.microsoft.com/office/drawing/2014/main" id="{863B0349-5603-4198-AB9B-F780A94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s4-step-h-2">
            <a:extLst xmlns:a="http://schemas.openxmlformats.org/drawingml/2006/main">
              <a:ext uri="{FF2B5EF4-FFF2-40B4-BE49-F238E27FC236}">
                <a16:creationId xmlns:a16="http://schemas.microsoft.com/office/drawing/2014/main" id="{0C662CF6-CE03-4627-A9C9-93356B6A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Grid</a:t>
            </a:r>
          </a:p>
        </p:txBody>
      </p:sp>
      <p:sp>
        <p:nvSpPr>
          <p:cNvPr id="21" name="s4-step-b-2">
            <a:extLst xmlns:a="http://schemas.openxmlformats.org/drawingml/2006/main">
              <a:ext uri="{FF2B5EF4-FFF2-40B4-BE49-F238E27FC236}">
                <a16:creationId xmlns:a16="http://schemas.microsoft.com/office/drawing/2014/main" id="{E380EF08-F3E2-4B7B-B19F-61D68D92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Continuous time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surfaces</a:t>
            </a:r>
          </a:p>
        </p:txBody>
      </p:sp>
      <p:sp>
        <p:nvSpPr>
          <p:cNvPr id="22" name="s4-arrow-3">
            <a:extLst xmlns:a="http://schemas.openxmlformats.org/drawingml/2006/main">
              <a:ext uri="{FF2B5EF4-FFF2-40B4-BE49-F238E27FC236}">
                <a16:creationId xmlns:a16="http://schemas.microsoft.com/office/drawing/2014/main" id="{9724D50F-6530-4F6B-8790-5B58EC30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76625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3" name="s4-step-3">
            <a:extLst xmlns:a="http://schemas.openxmlformats.org/drawingml/2006/main">
              <a:ext uri="{FF2B5EF4-FFF2-40B4-BE49-F238E27FC236}">
                <a16:creationId xmlns:a16="http://schemas.microsoft.com/office/drawing/2014/main" id="{9AA291CE-1D87-4CA1-BA2D-BB56DF85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2F8D8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4" name="s4-step-n-3">
            <a:extLst xmlns:a="http://schemas.openxmlformats.org/drawingml/2006/main">
              <a:ext uri="{FF2B5EF4-FFF2-40B4-BE49-F238E27FC236}">
                <a16:creationId xmlns:a16="http://schemas.microsoft.com/office/drawing/2014/main" id="{5B749676-BF17-40FB-A3EA-49894A3B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5" name="s4-step-h-3">
            <a:extLst xmlns:a="http://schemas.openxmlformats.org/drawingml/2006/main">
              <a:ext uri="{FF2B5EF4-FFF2-40B4-BE49-F238E27FC236}">
                <a16:creationId xmlns:a16="http://schemas.microsoft.com/office/drawing/2014/main" id="{146B7441-B534-4806-B304-E286D9A7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Convert</a:t>
            </a:r>
          </a:p>
        </p:txBody>
      </p:sp>
      <p:sp>
        <p:nvSpPr>
          <p:cNvPr id="26" name="s4-step-b-3">
            <a:extLst xmlns:a="http://schemas.openxmlformats.org/drawingml/2006/main">
              <a:ext uri="{FF2B5EF4-FFF2-40B4-BE49-F238E27FC236}">
                <a16:creationId xmlns:a16="http://schemas.microsoft.com/office/drawing/2014/main" id="{306B8EB5-A798-493B-8431-28F87160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T2D with velocity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7" name="s4-arrow-4">
            <a:extLst xmlns:a="http://schemas.openxmlformats.org/drawingml/2006/main">
              <a:ext uri="{FF2B5EF4-FFF2-40B4-BE49-F238E27FC236}">
                <a16:creationId xmlns:a16="http://schemas.microsoft.com/office/drawing/2014/main" id="{676E6969-D3F7-4027-9383-28DF9F0A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28" name="s4-step-4">
            <a:extLst xmlns:a="http://schemas.openxmlformats.org/drawingml/2006/main">
              <a:ext uri="{FF2B5EF4-FFF2-40B4-BE49-F238E27FC236}">
                <a16:creationId xmlns:a16="http://schemas.microsoft.com/office/drawing/2014/main" id="{F1E47DD7-A91A-46E3-9F99-04594ECE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9" name="s4-step-n-4">
            <a:extLst xmlns:a="http://schemas.openxmlformats.org/drawingml/2006/main">
              <a:ext uri="{FF2B5EF4-FFF2-40B4-BE49-F238E27FC236}">
                <a16:creationId xmlns:a16="http://schemas.microsoft.com/office/drawing/2014/main" id="{B443B085-5343-4229-ABDE-428434E0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0" name="s4-step-h-4">
            <a:extLst xmlns:a="http://schemas.openxmlformats.org/drawingml/2006/main">
              <a:ext uri="{FF2B5EF4-FFF2-40B4-BE49-F238E27FC236}">
                <a16:creationId xmlns:a16="http://schemas.microsoft.com/office/drawing/2014/main" id="{0EB9BF3E-DCFC-46D1-AA02-DA7B67FE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31" name="s4-step-b-4">
            <a:extLst xmlns:a="http://schemas.openxmlformats.org/drawingml/2006/main">
              <a:ext uri="{FF2B5EF4-FFF2-40B4-BE49-F238E27FC236}">
                <a16:creationId xmlns:a16="http://schemas.microsoft.com/office/drawing/2014/main" id="{F29AA91F-CCFF-4434-B626-39D364F5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TVDSS surfaces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+ faults</a:t>
            </a:r>
          </a:p>
        </p:txBody>
      </p:sp>
      <p:sp>
        <p:nvSpPr>
          <p:cNvPr id="32" name="s4-arrow-5">
            <a:extLst xmlns:a="http://schemas.openxmlformats.org/drawingml/2006/main">
              <a:ext uri="{FF2B5EF4-FFF2-40B4-BE49-F238E27FC236}">
                <a16:creationId xmlns:a16="http://schemas.microsoft.com/office/drawing/2014/main" id="{3761D690-18F1-400E-855B-9DB76665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76625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3" name="s4-step-5">
            <a:extLst xmlns:a="http://schemas.openxmlformats.org/drawingml/2006/main">
              <a:ext uri="{FF2B5EF4-FFF2-40B4-BE49-F238E27FC236}">
                <a16:creationId xmlns:a16="http://schemas.microsoft.com/office/drawing/2014/main" id="{D6DCFB0F-DB21-45EC-9ECA-0BC84E6B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52750"/>
            <a:ext cx="1781175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34" name="s4-step-n-5">
            <a:extLst xmlns:a="http://schemas.openxmlformats.org/drawingml/2006/main">
              <a:ext uri="{FF2B5EF4-FFF2-40B4-BE49-F238E27FC236}">
                <a16:creationId xmlns:a16="http://schemas.microsoft.com/office/drawing/2014/main" id="{2B4255BD-BF53-4E1F-B564-8B2C5CB0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1051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5" name="s4-step-h-5">
            <a:extLst xmlns:a="http://schemas.openxmlformats.org/drawingml/2006/main">
              <a:ext uri="{FF2B5EF4-FFF2-40B4-BE49-F238E27FC236}">
                <a16:creationId xmlns:a16="http://schemas.microsoft.com/office/drawing/2014/main" id="{BF5A1E3D-1878-4B6B-9AC5-748D43B7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371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Publish</a:t>
            </a:r>
          </a:p>
        </p:txBody>
      </p:sp>
      <p:sp>
        <p:nvSpPr>
          <p:cNvPr id="36" name="s4-step-b-5">
            <a:extLst xmlns:a="http://schemas.openxmlformats.org/drawingml/2006/main">
              <a:ext uri="{FF2B5EF4-FFF2-40B4-BE49-F238E27FC236}">
                <a16:creationId xmlns:a16="http://schemas.microsoft.com/office/drawing/2014/main" id="{AB5D008E-C1F5-42F2-ABA4-D48061E7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7147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Version + lineage</a:t>
            </a:r>
          </a:p>
        </p:txBody>
      </p:sp>
      <p:sp>
        <p:nvSpPr>
          <p:cNvPr id="37" name="s4-project">
            <a:extLst xmlns:a="http://schemas.openxmlformats.org/drawingml/2006/main">
              <a:ext uri="{FF2B5EF4-FFF2-40B4-BE49-F238E27FC236}">
                <a16:creationId xmlns:a16="http://schemas.microsoft.com/office/drawing/2014/main" id="{CACD521B-F260-45F6-9133-B787C003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14600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APPLICATION PROJECT SPACE · specialist interpretation and modelling execution</a:t>
            </a:r>
          </a:p>
        </p:txBody>
      </p:sp>
      <p:sp>
        <p:nvSpPr>
          <p:cNvPr id="38" name="s4-osdu-bottom">
            <a:extLst xmlns:a="http://schemas.openxmlformats.org/drawingml/2006/main">
              <a:ext uri="{FF2B5EF4-FFF2-40B4-BE49-F238E27FC236}">
                <a16:creationId xmlns:a16="http://schemas.microsoft.com/office/drawing/2014/main" id="{1844AAC4-AA62-4246-864B-FB717177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62525"/>
            <a:ext cx="113538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9" name="s4-result">
            <a:extLst xmlns:a="http://schemas.openxmlformats.org/drawingml/2006/main">
              <a:ext uri="{FF2B5EF4-FFF2-40B4-BE49-F238E27FC236}">
                <a16:creationId xmlns:a16="http://schemas.microsoft.com/office/drawing/2014/main" id="{F45CD26A-FDC2-4BE5-8960-29217142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Published outputs</a:t>
            </a:r>
          </a:p>
        </p:txBody>
      </p:sp>
      <p:sp>
        <p:nvSpPr>
          <p:cNvPr id="40" name="s4-result-items">
            <a:extLst xmlns:a="http://schemas.openxmlformats.org/drawingml/2006/main">
              <a:ext uri="{FF2B5EF4-FFF2-40B4-BE49-F238E27FC236}">
                <a16:creationId xmlns:a16="http://schemas.microsoft.com/office/drawing/2014/main" id="{245A498E-1009-49AB-920B-A50CF5CD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Seismic-derived surfaces (TVDSS)  ·  Fault sticks / planes (TVDSS)  ·  provenance</a:t>
            </a:r>
          </a:p>
        </p:txBody>
      </p:sp>
      <p:sp>
        <p:nvSpPr>
          <p:cNvPr id="41" name="s4-result-use">
            <a:extLst xmlns:a="http://schemas.openxmlformats.org/drawingml/2006/main">
              <a:ext uri="{FF2B5EF4-FFF2-40B4-BE49-F238E27FC236}">
                <a16:creationId xmlns:a16="http://schemas.microsoft.com/office/drawing/2014/main" id="{1DD29B87-DDA5-44B5-B165-7DFC56B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Discoverable and reusable by well planning, reservoir modelling and other downstream workflows</a:t>
            </a:r>
          </a:p>
        </p:txBody>
      </p:sp>
    </p:spTree>
    <p:extLst>
      <p:ext uri="{BB962C8B-B14F-4D97-AF65-F5344CB8AC3E}">
        <p14:creationId xmlns:p14="http://schemas.microsoft.com/office/powerpoint/2010/main" val="1759633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5">
            <a:extLst xmlns:a="http://schemas.openxmlformats.org/drawingml/2006/main">
              <a:ext uri="{FF2B5EF4-FFF2-40B4-BE49-F238E27FC236}">
                <a16:creationId xmlns:a16="http://schemas.microsoft.com/office/drawing/2014/main" id="{26D994B2-BDB4-4007-BEDA-38DA2F46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COMPLEMENTARY ROLES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65B614B-0D5F-4494-BAA6-C601B2B9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Mimris models the work around OSDU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FB380AD-7991-4615-87DF-CCFF0FCB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s5-thesis">
            <a:extLst xmlns:a="http://schemas.openxmlformats.org/drawingml/2006/main">
              <a:ext uri="{FF2B5EF4-FFF2-40B4-BE49-F238E27FC236}">
                <a16:creationId xmlns:a16="http://schemas.microsoft.com/office/drawing/2014/main" id="{BBD66E45-3AA7-4757-9D80-D2F802B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1135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OSDU manages authoritative data. Mimris connects that data to the processes and workplaces that use and transform it.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096000" y="31242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FF"/>
            </a:solidFill>
            <a:prstDash val="solid"/>
          </a:ln>
        </p:spPr>
      </p:cxnSp>
      <p:sp>
        <p:nvSpPr>
          <p:cNvPr id="7" name="s5-col-0">
            <a:extLst xmlns:a="http://schemas.openxmlformats.org/drawingml/2006/main">
              <a:ext uri="{FF2B5EF4-FFF2-40B4-BE49-F238E27FC236}">
                <a16:creationId xmlns:a16="http://schemas.microsoft.com/office/drawing/2014/main" id="{51CB33B9-A57B-499C-BC93-7389466B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28900"/>
            <a:ext cx="2619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8" name="s5-dot-0">
            <a:extLst xmlns:a="http://schemas.openxmlformats.org/drawingml/2006/main">
              <a:ext uri="{FF2B5EF4-FFF2-40B4-BE49-F238E27FC236}">
                <a16:creationId xmlns:a16="http://schemas.microsoft.com/office/drawing/2014/main" id="{6D2E97E1-367D-4342-8C9E-1A1515CF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9" name="s5-h-0">
            <a:extLst xmlns:a="http://schemas.openxmlformats.org/drawingml/2006/main">
              <a:ext uri="{FF2B5EF4-FFF2-40B4-BE49-F238E27FC236}">
                <a16:creationId xmlns:a16="http://schemas.microsoft.com/office/drawing/2014/main" id="{006D27A2-B0CA-4C33-96A2-903D8815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Processes</a:t>
            </a:r>
          </a:p>
        </p:txBody>
      </p:sp>
      <p:sp>
        <p:nvSpPr>
          <p:cNvPr id="10" name="s5-b-0">
            <a:extLst xmlns:a="http://schemas.openxmlformats.org/drawingml/2006/main">
              <a:ext uri="{FF2B5EF4-FFF2-40B4-BE49-F238E27FC236}">
                <a16:creationId xmlns:a16="http://schemas.microsoft.com/office/drawing/2014/main" id="{A608160A-1512-4CAD-8D66-EA99A18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Extract · interpret · grid · convert · publish</a:t>
            </a:r>
          </a:p>
        </p:txBody>
      </p:sp>
      <p:sp>
        <p:nvSpPr>
          <p:cNvPr id="11" name="s5-col-1">
            <a:extLst xmlns:a="http://schemas.openxmlformats.org/drawingml/2006/main">
              <a:ext uri="{FF2B5EF4-FFF2-40B4-BE49-F238E27FC236}">
                <a16:creationId xmlns:a16="http://schemas.microsoft.com/office/drawing/2014/main" id="{343D31BC-1C2D-4DD1-86CE-9C0134B6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28900"/>
            <a:ext cx="2619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2" name="s5-dot-1">
            <a:extLst xmlns:a="http://schemas.openxmlformats.org/drawingml/2006/main">
              <a:ext uri="{FF2B5EF4-FFF2-40B4-BE49-F238E27FC236}">
                <a16:creationId xmlns:a16="http://schemas.microsoft.com/office/drawing/2014/main" id="{1D1EB53E-8417-4E60-825F-49112138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28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s5-h-1">
            <a:extLst xmlns:a="http://schemas.openxmlformats.org/drawingml/2006/main">
              <a:ext uri="{FF2B5EF4-FFF2-40B4-BE49-F238E27FC236}">
                <a16:creationId xmlns:a16="http://schemas.microsoft.com/office/drawing/2014/main" id="{E6819F51-5028-43E8-86F9-3E282A6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4320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Organization</a:t>
            </a:r>
          </a:p>
        </p:txBody>
      </p:sp>
      <p:sp>
        <p:nvSpPr>
          <p:cNvPr id="14" name="s5-b-1">
            <a:extLst xmlns:a="http://schemas.openxmlformats.org/drawingml/2006/main">
              <a:ext uri="{FF2B5EF4-FFF2-40B4-BE49-F238E27FC236}">
                <a16:creationId xmlns:a16="http://schemas.microsoft.com/office/drawing/2014/main" id="{8F717B52-65D6-4601-AE02-FBC8AFDB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385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Interpreter · velocity modeller · data steward</a:t>
            </a:r>
          </a:p>
        </p:txBody>
      </p:sp>
      <p:sp>
        <p:nvSpPr>
          <p:cNvPr id="15" name="s5-col-2">
            <a:extLst xmlns:a="http://schemas.openxmlformats.org/drawingml/2006/main">
              <a:ext uri="{FF2B5EF4-FFF2-40B4-BE49-F238E27FC236}">
                <a16:creationId xmlns:a16="http://schemas.microsoft.com/office/drawing/2014/main" id="{84B38B3E-B762-4458-B5DB-74BB5D46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2619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6" name="s5-dot-2">
            <a:extLst xmlns:a="http://schemas.openxmlformats.org/drawingml/2006/main">
              <a:ext uri="{FF2B5EF4-FFF2-40B4-BE49-F238E27FC236}">
                <a16:creationId xmlns:a16="http://schemas.microsoft.com/office/drawing/2014/main" id="{52EC0ECB-2CA7-440F-A2E3-78394499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28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7" name="s5-h-2">
            <a:extLst xmlns:a="http://schemas.openxmlformats.org/drawingml/2006/main">
              <a:ext uri="{FF2B5EF4-FFF2-40B4-BE49-F238E27FC236}">
                <a16:creationId xmlns:a16="http://schemas.microsoft.com/office/drawing/2014/main" id="{1F8548CB-A140-40A2-BF87-33F0C33A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Products</a:t>
            </a:r>
          </a:p>
        </p:txBody>
      </p:sp>
      <p:sp>
        <p:nvSpPr>
          <p:cNvPr id="18" name="s5-b-2">
            <a:extLst xmlns:a="http://schemas.openxmlformats.org/drawingml/2006/main">
              <a:ext uri="{FF2B5EF4-FFF2-40B4-BE49-F238E27FC236}">
                <a16:creationId xmlns:a16="http://schemas.microsoft.com/office/drawing/2014/main" id="{674705CF-83BC-4B59-A9A2-4FF7CCC1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Picks · time surfaces · depth geometries · lineage</a:t>
            </a:r>
          </a:p>
        </p:txBody>
      </p:sp>
      <p:sp>
        <p:nvSpPr>
          <p:cNvPr id="19" name="s5-col-3">
            <a:extLst xmlns:a="http://schemas.openxmlformats.org/drawingml/2006/main">
              <a:ext uri="{FF2B5EF4-FFF2-40B4-BE49-F238E27FC236}">
                <a16:creationId xmlns:a16="http://schemas.microsoft.com/office/drawing/2014/main" id="{43319ED7-CEFE-4BFA-9E20-5CD990B1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28900"/>
            <a:ext cx="2619375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0" name="s5-dot-3">
            <a:extLst xmlns:a="http://schemas.openxmlformats.org/drawingml/2006/main">
              <a:ext uri="{FF2B5EF4-FFF2-40B4-BE49-F238E27FC236}">
                <a16:creationId xmlns:a16="http://schemas.microsoft.com/office/drawing/2014/main" id="{D5EF4C01-5F75-4ED1-B60D-999CA057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28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1" name="s5-h-3">
            <a:extLst xmlns:a="http://schemas.openxmlformats.org/drawingml/2006/main">
              <a:ext uri="{FF2B5EF4-FFF2-40B4-BE49-F238E27FC236}">
                <a16:creationId xmlns:a16="http://schemas.microsoft.com/office/drawing/2014/main" id="{E3BF0C41-B999-499B-B993-AAFC2845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74320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Systems</a:t>
            </a:r>
          </a:p>
        </p:txBody>
      </p:sp>
      <p:sp>
        <p:nvSpPr>
          <p:cNvPr id="22" name="s5-b-3">
            <a:extLst xmlns:a="http://schemas.openxmlformats.org/drawingml/2006/main">
              <a:ext uri="{FF2B5EF4-FFF2-40B4-BE49-F238E27FC236}">
                <a16:creationId xmlns:a16="http://schemas.microsoft.com/office/drawing/2014/main" id="{624180E1-F9A0-4858-9F9A-F7F8BF63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38500"/>
            <a:ext cx="223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OSDU · project space · specialist applications</a:t>
            </a:r>
          </a:p>
        </p:txBody>
      </p:sp>
      <p:sp>
        <p:nvSpPr>
          <p:cNvPr id="23" name="s5-foundation">
            <a:extLst xmlns:a="http://schemas.openxmlformats.org/drawingml/2006/main">
              <a:ext uri="{FF2B5EF4-FFF2-40B4-BE49-F238E27FC236}">
                <a16:creationId xmlns:a16="http://schemas.microsoft.com/office/drawing/2014/main" id="{C9A42EC5-CBB8-45BC-9C12-72FDD18D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3450"/>
            <a:ext cx="11353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24" name="s5-osdu">
            <a:extLst xmlns:a="http://schemas.openxmlformats.org/drawingml/2006/main">
              <a:ext uri="{FF2B5EF4-FFF2-40B4-BE49-F238E27FC236}">
                <a16:creationId xmlns:a16="http://schemas.microsoft.com/office/drawing/2014/main" id="{769CC3BC-A584-43DF-9381-1E64EA05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OSDU</a:t>
            </a:r>
          </a:p>
        </p:txBody>
      </p:sp>
      <p:sp>
        <p:nvSpPr>
          <p:cNvPr id="25" name="s5-storage">
            <a:extLst xmlns:a="http://schemas.openxmlformats.org/drawingml/2006/main">
              <a:ext uri="{FF2B5EF4-FFF2-40B4-BE49-F238E27FC236}">
                <a16:creationId xmlns:a16="http://schemas.microsoft.com/office/drawing/2014/main" id="{EDF4A76B-FEAD-4C91-9924-61DCBA79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rPr>
              <a:t>Authoritative, versioned storage foundation</a:t>
            </a:r>
          </a:p>
        </p:txBody>
      </p:sp>
      <p:sp>
        <p:nvSpPr>
          <p:cNvPr id="26" name="s5-inputs">
            <a:extLst xmlns:a="http://schemas.openxmlformats.org/drawingml/2006/main">
              <a:ext uri="{FF2B5EF4-FFF2-40B4-BE49-F238E27FC236}">
                <a16:creationId xmlns:a16="http://schemas.microsoft.com/office/drawing/2014/main" id="{BEBE8657-47F6-4750-83CE-CC105D4E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Inputs and validated outputs remain governed in the System of Record.</a:t>
            </a:r>
          </a:p>
        </p:txBody>
      </p:sp>
      <p:sp>
        <p:nvSpPr>
          <p:cNvPr id="27" name="s5-key">
            <a:extLst xmlns:a="http://schemas.openxmlformats.org/drawingml/2006/main">
              <a:ext uri="{FF2B5EF4-FFF2-40B4-BE49-F238E27FC236}">
                <a16:creationId xmlns:a16="http://schemas.microsoft.com/office/drawing/2014/main" id="{00C3275D-1ACE-433D-965E-F3E9D719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75"/>
            <a:ext cx="1135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POPS makes the whole operating context explicit — without moving execution into OSDU.</a:t>
            </a:r>
          </a:p>
        </p:txBody>
      </p:sp>
    </p:spTree>
    <p:extLst>
      <p:ext uri="{BB962C8B-B14F-4D97-AF65-F5344CB8AC3E}">
        <p14:creationId xmlns:p14="http://schemas.microsoft.com/office/powerpoint/2010/main" val="142713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kicker-6">
            <a:extLst xmlns:a="http://schemas.openxmlformats.org/drawingml/2006/main">
              <a:ext uri="{FF2B5EF4-FFF2-40B4-BE49-F238E27FC236}">
                <a16:creationId xmlns:a16="http://schemas.microsoft.com/office/drawing/2014/main" id="{E753BEA7-DC16-48EB-A7AF-10A56AC3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MIMRIS AI WORKSPACE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08AC13A-8161-44F1-B0E6-96354B92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Domain knowledge becomes an operational workplace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5AA31119-FA91-4ED1-A317-F8074CCF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s6-sub">
            <a:extLst xmlns:a="http://schemas.openxmlformats.org/drawingml/2006/main">
              <a:ext uri="{FF2B5EF4-FFF2-40B4-BE49-F238E27FC236}">
                <a16:creationId xmlns:a16="http://schemas.microsoft.com/office/drawing/2014/main" id="{D74102C8-C505-493A-B8AD-A9307BBE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11353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AI accelerates defined AKM transformations; the connected models preserve structure and traceability.</a:t>
            </a:r>
          </a:p>
        </p:txBody>
      </p:sp>
      <p:sp>
        <p:nvSpPr>
          <p:cNvPr id="6" name="s6-card-0">
            <a:extLst xmlns:a="http://schemas.openxmlformats.org/drawingml/2006/main">
              <a:ext uri="{FF2B5EF4-FFF2-40B4-BE49-F238E27FC236}">
                <a16:creationId xmlns:a16="http://schemas.microsoft.com/office/drawing/2014/main" id="{A5FD0142-AD86-4EBD-857B-DDA24EE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7" name="s6-no-0">
            <a:extLst xmlns:a="http://schemas.openxmlformats.org/drawingml/2006/main">
              <a:ext uri="{FF2B5EF4-FFF2-40B4-BE49-F238E27FC236}">
                <a16:creationId xmlns:a16="http://schemas.microsoft.com/office/drawing/2014/main" id="{BC2CC77E-5CE7-41EB-9234-900723BA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s6-head-0">
            <a:extLst xmlns:a="http://schemas.openxmlformats.org/drawingml/2006/main">
              <a:ext uri="{FF2B5EF4-FFF2-40B4-BE49-F238E27FC236}">
                <a16:creationId xmlns:a16="http://schemas.microsoft.com/office/drawing/2014/main" id="{7C76AA79-E945-4AC6-B7ED-C3D25F92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Domain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definition</a:t>
            </a:r>
          </a:p>
        </p:txBody>
      </p:sp>
      <p:sp>
        <p:nvSpPr>
          <p:cNvPr id="9" name="s6-body-0">
            <a:extLst xmlns:a="http://schemas.openxmlformats.org/drawingml/2006/main">
              <a:ext uri="{FF2B5EF4-FFF2-40B4-BE49-F238E27FC236}">
                <a16:creationId xmlns:a16="http://schemas.microsoft.com/office/drawing/2014/main" id="{FBAC7BD4-2D05-499F-86B9-600493C2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2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Scope + language</a:t>
            </a:r>
          </a:p>
        </p:txBody>
      </p:sp>
      <p:sp>
        <p:nvSpPr>
          <p:cNvPr id="10" name="s6-chevron-1">
            <a:extLst xmlns:a="http://schemas.openxmlformats.org/drawingml/2006/main">
              <a:ext uri="{FF2B5EF4-FFF2-40B4-BE49-F238E27FC236}">
                <a16:creationId xmlns:a16="http://schemas.microsoft.com/office/drawing/2014/main" id="{8D38BAAF-9355-47C4-A763-465D3128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1" name="s6-ai-1">
            <a:extLst xmlns:a="http://schemas.openxmlformats.org/drawingml/2006/main">
              <a:ext uri="{FF2B5EF4-FFF2-40B4-BE49-F238E27FC236}">
                <a16:creationId xmlns:a16="http://schemas.microsoft.com/office/drawing/2014/main" id="{A8047333-D4BE-4D05-98F5-0A54346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rPr>
              <a:t>AI</a:t>
            </a:r>
          </a:p>
        </p:txBody>
      </p:sp>
      <p:sp>
        <p:nvSpPr>
          <p:cNvPr id="12" name="s6-card-1">
            <a:extLst xmlns:a="http://schemas.openxmlformats.org/drawingml/2006/main">
              <a:ext uri="{FF2B5EF4-FFF2-40B4-BE49-F238E27FC236}">
                <a16:creationId xmlns:a16="http://schemas.microsoft.com/office/drawing/2014/main" id="{E0522F38-E033-4AC4-9D02-5141EE3E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3" name="s6-no-1">
            <a:extLst xmlns:a="http://schemas.openxmlformats.org/drawingml/2006/main">
              <a:ext uri="{FF2B5EF4-FFF2-40B4-BE49-F238E27FC236}">
                <a16:creationId xmlns:a16="http://schemas.microsoft.com/office/drawing/2014/main" id="{6077E95B-7366-4DF8-BF07-A2820372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s6-head-1">
            <a:extLst xmlns:a="http://schemas.openxmlformats.org/drawingml/2006/main">
              <a:ext uri="{FF2B5EF4-FFF2-40B4-BE49-F238E27FC236}">
                <a16:creationId xmlns:a16="http://schemas.microsoft.com/office/drawing/2014/main" id="{84CD64E8-193F-43CE-99C6-3CEA03AB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Domain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ontology</a:t>
            </a:r>
          </a:p>
        </p:txBody>
      </p:sp>
      <p:sp>
        <p:nvSpPr>
          <p:cNvPr id="15" name="s6-body-1">
            <a:extLst xmlns:a="http://schemas.openxmlformats.org/drawingml/2006/main">
              <a:ext uri="{FF2B5EF4-FFF2-40B4-BE49-F238E27FC236}">
                <a16:creationId xmlns:a16="http://schemas.microsoft.com/office/drawing/2014/main" id="{1DD7D437-52D2-44F1-9642-B243CC62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5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Concepts + relations</a:t>
            </a:r>
          </a:p>
        </p:txBody>
      </p:sp>
      <p:sp>
        <p:nvSpPr>
          <p:cNvPr id="16" name="s6-chevron-2">
            <a:extLst xmlns:a="http://schemas.openxmlformats.org/drawingml/2006/main">
              <a:ext uri="{FF2B5EF4-FFF2-40B4-BE49-F238E27FC236}">
                <a16:creationId xmlns:a16="http://schemas.microsoft.com/office/drawing/2014/main" id="{B8453BF4-13C5-4E9E-AC80-25AB9F8E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7" name="s6-ai-2">
            <a:extLst xmlns:a="http://schemas.openxmlformats.org/drawingml/2006/main">
              <a:ext uri="{FF2B5EF4-FFF2-40B4-BE49-F238E27FC236}">
                <a16:creationId xmlns:a16="http://schemas.microsoft.com/office/drawing/2014/main" id="{15FA90B3-2D6C-4B38-964A-BCDA2674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908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rPr>
              <a:t>AI</a:t>
            </a:r>
          </a:p>
        </p:txBody>
      </p:sp>
      <p:sp>
        <p:nvSpPr>
          <p:cNvPr id="18" name="s6-card-2">
            <a:extLst xmlns:a="http://schemas.openxmlformats.org/drawingml/2006/main">
              <a:ext uri="{FF2B5EF4-FFF2-40B4-BE49-F238E27FC236}">
                <a16:creationId xmlns:a16="http://schemas.microsoft.com/office/drawing/2014/main" id="{9CFEE19A-3E21-4F25-AECC-6863B832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9" name="s6-no-2">
            <a:extLst xmlns:a="http://schemas.openxmlformats.org/drawingml/2006/main">
              <a:ext uri="{FF2B5EF4-FFF2-40B4-BE49-F238E27FC236}">
                <a16:creationId xmlns:a16="http://schemas.microsoft.com/office/drawing/2014/main" id="{FB3C5559-381E-411A-97CD-6227D08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s6-head-2">
            <a:extLst xmlns:a="http://schemas.openxmlformats.org/drawingml/2006/main">
              <a:ext uri="{FF2B5EF4-FFF2-40B4-BE49-F238E27FC236}">
                <a16:creationId xmlns:a16="http://schemas.microsoft.com/office/drawing/2014/main" id="{6BEEC922-96D8-478B-BCB4-C4B75BB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POPS</a:t>
            </a:r>
          </a:p>
        </p:txBody>
      </p:sp>
      <p:sp>
        <p:nvSpPr>
          <p:cNvPr id="21" name="s6-body-2">
            <a:extLst xmlns:a="http://schemas.openxmlformats.org/drawingml/2006/main">
              <a:ext uri="{FF2B5EF4-FFF2-40B4-BE49-F238E27FC236}">
                <a16:creationId xmlns:a16="http://schemas.microsoft.com/office/drawing/2014/main" id="{890D25F9-1348-46D7-B26A-6382C1C9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Operating context</a:t>
            </a:r>
          </a:p>
        </p:txBody>
      </p:sp>
      <p:sp>
        <p:nvSpPr>
          <p:cNvPr id="22" name="s6-chevron-3">
            <a:extLst xmlns:a="http://schemas.openxmlformats.org/drawingml/2006/main">
              <a:ext uri="{FF2B5EF4-FFF2-40B4-BE49-F238E27FC236}">
                <a16:creationId xmlns:a16="http://schemas.microsoft.com/office/drawing/2014/main" id="{F36B9424-2F7F-47CD-BCCA-E158AF3C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23" name="s6-card-3">
            <a:extLst xmlns:a="http://schemas.openxmlformats.org/drawingml/2006/main">
              <a:ext uri="{FF2B5EF4-FFF2-40B4-BE49-F238E27FC236}">
                <a16:creationId xmlns:a16="http://schemas.microsoft.com/office/drawing/2014/main" id="{A1EA32C0-08A5-4EBC-9BA2-C0DAC8AD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4" name="s6-no-3">
            <a:extLst xmlns:a="http://schemas.openxmlformats.org/drawingml/2006/main">
              <a:ext uri="{FF2B5EF4-FFF2-40B4-BE49-F238E27FC236}">
                <a16:creationId xmlns:a16="http://schemas.microsoft.com/office/drawing/2014/main" id="{435AF79D-C185-404A-A5B7-075D4D2D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s6-head-3">
            <a:extLst xmlns:a="http://schemas.openxmlformats.org/drawingml/2006/main">
              <a:ext uri="{FF2B5EF4-FFF2-40B4-BE49-F238E27FC236}">
                <a16:creationId xmlns:a16="http://schemas.microsoft.com/office/drawing/2014/main" id="{A3B65012-06DA-469A-AD9C-155DB80D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Process</a:t>
            </a:r>
          </a:p>
        </p:txBody>
      </p:sp>
      <p:sp>
        <p:nvSpPr>
          <p:cNvPr id="26" name="s6-body-3">
            <a:extLst xmlns:a="http://schemas.openxmlformats.org/drawingml/2006/main">
              <a:ext uri="{FF2B5EF4-FFF2-40B4-BE49-F238E27FC236}">
                <a16:creationId xmlns:a16="http://schemas.microsoft.com/office/drawing/2014/main" id="{33B00F45-907D-4CC1-9B58-92AAD938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Select + refine</a:t>
            </a:r>
          </a:p>
        </p:txBody>
      </p:sp>
      <p:sp>
        <p:nvSpPr>
          <p:cNvPr id="27" name="s6-chevron-4">
            <a:extLst xmlns:a="http://schemas.openxmlformats.org/drawingml/2006/main">
              <a:ext uri="{FF2B5EF4-FFF2-40B4-BE49-F238E27FC236}">
                <a16:creationId xmlns:a16="http://schemas.microsoft.com/office/drawing/2014/main" id="{88B0B1A1-556C-4F1B-B061-656D96CB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8" name="s6-ai-4">
            <a:extLst xmlns:a="http://schemas.openxmlformats.org/drawingml/2006/main">
              <a:ext uri="{FF2B5EF4-FFF2-40B4-BE49-F238E27FC236}">
                <a16:creationId xmlns:a16="http://schemas.microsoft.com/office/drawing/2014/main" id="{11DD02E7-0B68-4EF1-8265-72DE5701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9908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rPr>
              <a:t>AI</a:t>
            </a:r>
          </a:p>
        </p:txBody>
      </p:sp>
      <p:sp>
        <p:nvSpPr>
          <p:cNvPr id="29" name="s6-card-4">
            <a:extLst xmlns:a="http://schemas.openxmlformats.org/drawingml/2006/main">
              <a:ext uri="{FF2B5EF4-FFF2-40B4-BE49-F238E27FC236}">
                <a16:creationId xmlns:a16="http://schemas.microsoft.com/office/drawing/2014/main" id="{54B930C6-3837-4F50-81E9-515151F8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8D8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30" name="s6-no-4">
            <a:extLst xmlns:a="http://schemas.openxmlformats.org/drawingml/2006/main">
              <a:ext uri="{FF2B5EF4-FFF2-40B4-BE49-F238E27FC236}">
                <a16:creationId xmlns:a16="http://schemas.microsoft.com/office/drawing/2014/main" id="{B17C4D41-3E60-4CE4-8CC4-041112F7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1" name="s6-head-4">
            <a:extLst xmlns:a="http://schemas.openxmlformats.org/drawingml/2006/main">
              <a:ext uri="{FF2B5EF4-FFF2-40B4-BE49-F238E27FC236}">
                <a16:creationId xmlns:a16="http://schemas.microsoft.com/office/drawing/2014/main" id="{1442A253-A5F0-41D0-9073-00B87915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IRTV</a:t>
            </a:r>
          </a:p>
        </p:txBody>
      </p:sp>
      <p:sp>
        <p:nvSpPr>
          <p:cNvPr id="32" name="s6-body-4">
            <a:extLst xmlns:a="http://schemas.openxmlformats.org/drawingml/2006/main">
              <a:ext uri="{FF2B5EF4-FFF2-40B4-BE49-F238E27FC236}">
                <a16:creationId xmlns:a16="http://schemas.microsoft.com/office/drawing/2014/main" id="{EE9C5425-D3B2-43C6-89B4-35D7C8B4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Workplace model</a:t>
            </a:r>
          </a:p>
        </p:txBody>
      </p:sp>
      <p:sp>
        <p:nvSpPr>
          <p:cNvPr id="33" name="s6-chevron-5">
            <a:extLst xmlns:a="http://schemas.openxmlformats.org/drawingml/2006/main">
              <a:ext uri="{FF2B5EF4-FFF2-40B4-BE49-F238E27FC236}">
                <a16:creationId xmlns:a16="http://schemas.microsoft.com/office/drawing/2014/main" id="{F6C1453E-FB59-47DE-9DBB-94138824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4" name="s6-card-5">
            <a:extLst xmlns:a="http://schemas.openxmlformats.org/drawingml/2006/main">
              <a:ext uri="{FF2B5EF4-FFF2-40B4-BE49-F238E27FC236}">
                <a16:creationId xmlns:a16="http://schemas.microsoft.com/office/drawing/2014/main" id="{046F898F-AB61-41CE-BCFA-33A86D60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35" name="s6-no-5">
            <a:extLst xmlns:a="http://schemas.openxmlformats.org/drawingml/2006/main">
              <a:ext uri="{FF2B5EF4-FFF2-40B4-BE49-F238E27FC236}">
                <a16:creationId xmlns:a16="http://schemas.microsoft.com/office/drawing/2014/main" id="{794CEDE8-A30B-4053-AE16-BEFFDA8A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6" name="s6-head-5">
            <a:extLst xmlns:a="http://schemas.openxmlformats.org/drawingml/2006/main">
              <a:ext uri="{FF2B5EF4-FFF2-40B4-BE49-F238E27FC236}">
                <a16:creationId xmlns:a16="http://schemas.microsoft.com/office/drawing/2014/main" id="{BC7C0FA8-D658-4A3C-86B1-B2264DE9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Detailed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models</a:t>
            </a:r>
          </a:p>
        </p:txBody>
      </p:sp>
      <p:sp>
        <p:nvSpPr>
          <p:cNvPr id="37" name="s6-body-5">
            <a:extLst xmlns:a="http://schemas.openxmlformats.org/drawingml/2006/main">
              <a:ext uri="{FF2B5EF4-FFF2-40B4-BE49-F238E27FC236}">
                <a16:creationId xmlns:a16="http://schemas.microsoft.com/office/drawing/2014/main" id="{A2675381-FCDF-47E6-8B77-F02EC92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9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Connected views</a:t>
            </a:r>
          </a:p>
        </p:txBody>
      </p:sp>
      <p:sp>
        <p:nvSpPr>
          <p:cNvPr id="38" name="s6-chevron-6">
            <a:extLst xmlns:a="http://schemas.openxmlformats.org/drawingml/2006/main">
              <a:ext uri="{FF2B5EF4-FFF2-40B4-BE49-F238E27FC236}">
                <a16:creationId xmlns:a16="http://schemas.microsoft.com/office/drawing/2014/main" id="{D62751DF-C4C0-4F36-AB7E-66E1B3E0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52800"/>
            <a:ext cx="123825" cy="2571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9" name="s6-card-6">
            <a:extLst xmlns:a="http://schemas.openxmlformats.org/drawingml/2006/main">
              <a:ext uri="{FF2B5EF4-FFF2-40B4-BE49-F238E27FC236}">
                <a16:creationId xmlns:a16="http://schemas.microsoft.com/office/drawing/2014/main" id="{621AD967-BA41-4794-AB37-D79F977C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57475"/>
            <a:ext cx="1428750" cy="16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40" name="s6-no-6">
            <a:extLst xmlns:a="http://schemas.openxmlformats.org/drawingml/2006/main">
              <a:ext uri="{FF2B5EF4-FFF2-40B4-BE49-F238E27FC236}">
                <a16:creationId xmlns:a16="http://schemas.microsoft.com/office/drawing/2014/main" id="{834C44A9-0AA9-46FA-860C-73922EF3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8003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5C7F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1" name="s6-head-6">
            <a:extLst xmlns:a="http://schemas.openxmlformats.org/drawingml/2006/main">
              <a:ext uri="{FF2B5EF4-FFF2-40B4-BE49-F238E27FC236}">
                <a16:creationId xmlns:a16="http://schemas.microsoft.com/office/drawing/2014/main" id="{B9C17724-7042-4788-A944-E597CBD0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051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workplace</a:t>
            </a:r>
          </a:p>
        </p:txBody>
      </p:sp>
      <p:sp>
        <p:nvSpPr>
          <p:cNvPr id="42" name="s6-body-6">
            <a:extLst xmlns:a="http://schemas.openxmlformats.org/drawingml/2006/main">
              <a:ext uri="{FF2B5EF4-FFF2-40B4-BE49-F238E27FC236}">
                <a16:creationId xmlns:a16="http://schemas.microsoft.com/office/drawing/2014/main" id="{33A54B91-2D94-4AFD-889E-72F35EB2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Role-specific work</a:t>
            </a:r>
          </a:p>
        </p:txBody>
      </p:sp>
      <p:sp>
        <p:nvSpPr>
          <p:cNvPr id="43" name="s6-control">
            <a:extLst xmlns:a="http://schemas.openxmlformats.org/drawingml/2006/main">
              <a:ext uri="{FF2B5EF4-FFF2-40B4-BE49-F238E27FC236}">
                <a16:creationId xmlns:a16="http://schemas.microsoft.com/office/drawing/2014/main" id="{28AE63D5-4C79-412C-8B00-1C5A3A33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81575"/>
            <a:ext cx="8686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44" name="s6-control-h">
            <a:extLst xmlns:a="http://schemas.openxmlformats.org/drawingml/2006/main">
              <a:ext uri="{FF2B5EF4-FFF2-40B4-BE49-F238E27FC236}">
                <a16:creationId xmlns:a16="http://schemas.microsoft.com/office/drawing/2014/main" id="{DBD9FDE0-B71D-44D1-9F89-8D49CB41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72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Human-in-the-loop control</a:t>
            </a:r>
          </a:p>
        </p:txBody>
      </p:sp>
      <p:sp>
        <p:nvSpPr>
          <p:cNvPr id="45" name="s6-control-b">
            <a:extLst xmlns:a="http://schemas.openxmlformats.org/drawingml/2006/main">
              <a:ext uri="{FF2B5EF4-FFF2-40B4-BE49-F238E27FC236}">
                <a16:creationId xmlns:a16="http://schemas.microsoft.com/office/drawing/2014/main" id="{03148201-D3F1-4513-96AF-0D0FA61E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530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Domain experts review, refine and approve each transformation before it becomes the basis for the next model.</a:t>
            </a:r>
          </a:p>
        </p:txBody>
      </p:sp>
    </p:spTree>
    <p:extLst>
      <p:ext uri="{BB962C8B-B14F-4D97-AF65-F5344CB8AC3E}">
        <p14:creationId xmlns:p14="http://schemas.microsoft.com/office/powerpoint/2010/main" val="1749021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7">
            <a:extLst xmlns:a="http://schemas.openxmlformats.org/drawingml/2006/main">
              <a:ext uri="{FF2B5EF4-FFF2-40B4-BE49-F238E27FC236}">
                <a16:creationId xmlns:a16="http://schemas.microsoft.com/office/drawing/2014/main" id="{9C6E8205-9327-4B75-89B2-14DC7186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EXAMPLE PROCESS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46459CA-38BE-4EC1-BD3C-B2666F8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Time-to-Depth becomes a concrete workplace model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48281516-D8B9-44E1-AB41-26D2906A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3400425" y="3286125"/>
            <a:ext cx="5391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D2DA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6096000" y="2095500"/>
            <a:ext cx="0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D2DA"/>
            </a:solidFill>
            <a:prstDash val="solid"/>
          </a:ln>
        </p:spPr>
      </p:cxnSp>
      <p:sp>
        <p:nvSpPr>
          <p:cNvPr id="7" name="s7-center">
            <a:extLst xmlns:a="http://schemas.openxmlformats.org/drawingml/2006/main">
              <a:ext uri="{FF2B5EF4-FFF2-40B4-BE49-F238E27FC236}">
                <a16:creationId xmlns:a16="http://schemas.microsoft.com/office/drawing/2014/main" id="{D3212E4A-B798-43AF-9CA5-A54A3AC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2952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8" name="s7-center-h">
            <a:extLst xmlns:a="http://schemas.openxmlformats.org/drawingml/2006/main">
              <a:ext uri="{FF2B5EF4-FFF2-40B4-BE49-F238E27FC236}">
                <a16:creationId xmlns:a16="http://schemas.microsoft.com/office/drawing/2014/main" id="{E4E664AA-F7EA-4D53-AA4C-8029822E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TIME-TO-DEPTH</a:t>
            </a:r>
          </a:p>
        </p:txBody>
      </p:sp>
      <p:sp>
        <p:nvSpPr>
          <p:cNvPr id="9" name="s7-center-b">
            <a:extLst xmlns:a="http://schemas.openxmlformats.org/drawingml/2006/main">
              <a:ext uri="{FF2B5EF4-FFF2-40B4-BE49-F238E27FC236}">
                <a16:creationId xmlns:a16="http://schemas.microsoft.com/office/drawing/2014/main" id="{4E4BA387-63C1-4970-B4E8-A6CB4E5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766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5C7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5C7F0"/>
                </a:solidFill>
                <a:latin typeface="Helvetica Neue"/>
                <a:ea typeface="Helvetica Neue"/>
                <a:cs typeface="Helvetica Neue"/>
              </a:rPr>
              <a:t>Convert TWT interpretations to TVDSS using a versioned velocity model</a:t>
            </a:r>
          </a:p>
        </p:txBody>
      </p:sp>
      <p:sp>
        <p:nvSpPr>
          <p:cNvPr id="10" name="s7-q-0">
            <a:extLst xmlns:a="http://schemas.openxmlformats.org/drawingml/2006/main">
              <a:ext uri="{FF2B5EF4-FFF2-40B4-BE49-F238E27FC236}">
                <a16:creationId xmlns:a16="http://schemas.microsoft.com/office/drawing/2014/main" id="{70C68DF4-37B8-46E7-9310-63CB03AB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354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s7-letter-0">
            <a:extLst xmlns:a="http://schemas.openxmlformats.org/drawingml/2006/main">
              <a:ext uri="{FF2B5EF4-FFF2-40B4-BE49-F238E27FC236}">
                <a16:creationId xmlns:a16="http://schemas.microsoft.com/office/drawing/2014/main" id="{91EE84E8-0ADB-4053-A8CC-C2E3B277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2" name="s7-letter-t-0">
            <a:extLst xmlns:a="http://schemas.openxmlformats.org/drawingml/2006/main">
              <a:ext uri="{FF2B5EF4-FFF2-40B4-BE49-F238E27FC236}">
                <a16:creationId xmlns:a16="http://schemas.microsoft.com/office/drawing/2014/main" id="{02CFE014-5775-4FCB-ABE9-6E5B87A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</a:t>
            </a:r>
          </a:p>
        </p:txBody>
      </p:sp>
      <p:sp>
        <p:nvSpPr>
          <p:cNvPr id="13" name="s7-qh-0">
            <a:extLst xmlns:a="http://schemas.openxmlformats.org/drawingml/2006/main">
              <a:ext uri="{FF2B5EF4-FFF2-40B4-BE49-F238E27FC236}">
                <a16:creationId xmlns:a16="http://schemas.microsoft.com/office/drawing/2014/main" id="{EABDE7F0-2A64-4E2D-B98C-030A2177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66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Information</a:t>
            </a:r>
          </a:p>
        </p:txBody>
      </p:sp>
      <p:sp>
        <p:nvSpPr>
          <p:cNvPr id="14" name="s7-qb-0">
            <a:extLst xmlns:a="http://schemas.openxmlformats.org/drawingml/2006/main">
              <a:ext uri="{FF2B5EF4-FFF2-40B4-BE49-F238E27FC236}">
                <a16:creationId xmlns:a16="http://schemas.microsoft.com/office/drawing/2014/main" id="{8E680428-F96D-473F-9C0A-037765C7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383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Time surfaces · TWT faults · velocity cube · parameters</a:t>
            </a:r>
          </a:p>
        </p:txBody>
      </p:sp>
      <p:sp>
        <p:nvSpPr>
          <p:cNvPr id="15" name="s7-q-1">
            <a:extLst xmlns:a="http://schemas.openxmlformats.org/drawingml/2006/main">
              <a:ext uri="{FF2B5EF4-FFF2-40B4-BE49-F238E27FC236}">
                <a16:creationId xmlns:a16="http://schemas.microsoft.com/office/drawing/2014/main" id="{CF8A8408-694A-47B2-A07D-47D37E2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5450"/>
            <a:ext cx="354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6" name="s7-letter-1">
            <a:extLst xmlns:a="http://schemas.openxmlformats.org/drawingml/2006/main">
              <a:ext uri="{FF2B5EF4-FFF2-40B4-BE49-F238E27FC236}">
                <a16:creationId xmlns:a16="http://schemas.microsoft.com/office/drawing/2014/main" id="{01EB1A36-053A-400A-BF5D-8ED4B46D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7" name="s7-letter-t-1">
            <a:extLst xmlns:a="http://schemas.openxmlformats.org/drawingml/2006/main">
              <a:ext uri="{FF2B5EF4-FFF2-40B4-BE49-F238E27FC236}">
                <a16:creationId xmlns:a16="http://schemas.microsoft.com/office/drawing/2014/main" id="{C2B12269-CF81-4283-AEA6-3DC4B8A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71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sp>
        <p:nvSpPr>
          <p:cNvPr id="18" name="s7-qh-1">
            <a:extLst xmlns:a="http://schemas.openxmlformats.org/drawingml/2006/main">
              <a:ext uri="{FF2B5EF4-FFF2-40B4-BE49-F238E27FC236}">
                <a16:creationId xmlns:a16="http://schemas.microsoft.com/office/drawing/2014/main" id="{8918CD1E-DADC-4423-8FD0-B50EAD01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Roles</a:t>
            </a:r>
          </a:p>
        </p:txBody>
      </p:sp>
      <p:sp>
        <p:nvSpPr>
          <p:cNvPr id="19" name="s7-qb-1">
            <a:extLst xmlns:a="http://schemas.openxmlformats.org/drawingml/2006/main">
              <a:ext uri="{FF2B5EF4-FFF2-40B4-BE49-F238E27FC236}">
                <a16:creationId xmlns:a16="http://schemas.microsoft.com/office/drawing/2014/main" id="{2C47ADB0-9AD6-4D99-B1F7-58CECA4E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383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Interpreter · velocity modeller · reviewer · data steward</a:t>
            </a:r>
          </a:p>
        </p:txBody>
      </p:sp>
      <p:sp>
        <p:nvSpPr>
          <p:cNvPr id="20" name="s7-q-2">
            <a:extLst xmlns:a="http://schemas.openxmlformats.org/drawingml/2006/main">
              <a:ext uri="{FF2B5EF4-FFF2-40B4-BE49-F238E27FC236}">
                <a16:creationId xmlns:a16="http://schemas.microsoft.com/office/drawing/2014/main" id="{5215738A-F56A-45D0-B1CE-5197F34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354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8D8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1" name="s7-letter-2">
            <a:extLst xmlns:a="http://schemas.openxmlformats.org/drawingml/2006/main">
              <a:ext uri="{FF2B5EF4-FFF2-40B4-BE49-F238E27FC236}">
                <a16:creationId xmlns:a16="http://schemas.microsoft.com/office/drawing/2014/main" id="{6EC79DE8-9B48-4D48-BB4E-4DA0E851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2" name="s7-letter-t-2">
            <a:extLst xmlns:a="http://schemas.openxmlformats.org/drawingml/2006/main">
              <a:ext uri="{FF2B5EF4-FFF2-40B4-BE49-F238E27FC236}">
                <a16:creationId xmlns:a16="http://schemas.microsoft.com/office/drawing/2014/main" id="{30840589-18C6-4319-8FA2-EF12DA4B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</p:txBody>
      </p:sp>
      <p:sp>
        <p:nvSpPr>
          <p:cNvPr id="23" name="s7-qh-2">
            <a:extLst xmlns:a="http://schemas.openxmlformats.org/drawingml/2006/main">
              <a:ext uri="{FF2B5EF4-FFF2-40B4-BE49-F238E27FC236}">
                <a16:creationId xmlns:a16="http://schemas.microsoft.com/office/drawing/2014/main" id="{F55506F9-F787-4DC4-9D7A-66AC525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Tasks</a:t>
            </a:r>
          </a:p>
        </p:txBody>
      </p:sp>
      <p:sp>
        <p:nvSpPr>
          <p:cNvPr id="24" name="s7-qb-2">
            <a:extLst xmlns:a="http://schemas.openxmlformats.org/drawingml/2006/main">
              <a:ext uri="{FF2B5EF4-FFF2-40B4-BE49-F238E27FC236}">
                <a16:creationId xmlns:a16="http://schemas.microsoft.com/office/drawing/2014/main" id="{96329112-E90C-4291-9A86-9AC46D5A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Select · configure · execute · QC · approve · publish</a:t>
            </a:r>
          </a:p>
        </p:txBody>
      </p:sp>
      <p:sp>
        <p:nvSpPr>
          <p:cNvPr id="25" name="s7-q-3">
            <a:extLst xmlns:a="http://schemas.openxmlformats.org/drawingml/2006/main">
              <a:ext uri="{FF2B5EF4-FFF2-40B4-BE49-F238E27FC236}">
                <a16:creationId xmlns:a16="http://schemas.microsoft.com/office/drawing/2014/main" id="{FFF73EE6-8F87-4BAA-9DCE-CCBBEF75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354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6" name="s7-letter-3">
            <a:extLst xmlns:a="http://schemas.openxmlformats.org/drawingml/2006/main">
              <a:ext uri="{FF2B5EF4-FFF2-40B4-BE49-F238E27FC236}">
                <a16:creationId xmlns:a16="http://schemas.microsoft.com/office/drawing/2014/main" id="{9E24441A-CDA7-4045-B64D-C3399354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7" name="s7-letter-t-3">
            <a:extLst xmlns:a="http://schemas.openxmlformats.org/drawingml/2006/main">
              <a:ext uri="{FF2B5EF4-FFF2-40B4-BE49-F238E27FC236}">
                <a16:creationId xmlns:a16="http://schemas.microsoft.com/office/drawing/2014/main" id="{F28A0E52-310C-4583-ABB2-DBED7F76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52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</a:t>
            </a:r>
          </a:p>
        </p:txBody>
      </p:sp>
      <p:sp>
        <p:nvSpPr>
          <p:cNvPr id="28" name="s7-qh-3">
            <a:extLst xmlns:a="http://schemas.openxmlformats.org/drawingml/2006/main">
              <a:ext uri="{FF2B5EF4-FFF2-40B4-BE49-F238E27FC236}">
                <a16:creationId xmlns:a16="http://schemas.microsoft.com/office/drawing/2014/main" id="{5B0A54EA-F6F0-418F-99E6-9DBB7537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48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Views</a:t>
            </a:r>
          </a:p>
        </p:txBody>
      </p:sp>
      <p:sp>
        <p:nvSpPr>
          <p:cNvPr id="29" name="s7-qb-3">
            <a:extLst xmlns:a="http://schemas.openxmlformats.org/drawingml/2006/main">
              <a:ext uri="{FF2B5EF4-FFF2-40B4-BE49-F238E27FC236}">
                <a16:creationId xmlns:a16="http://schemas.microsoft.com/office/drawing/2014/main" id="{F803459A-4F87-46F0-A71C-2BFF7682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196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Inputs · parameters · conversion QC · results · lineage</a:t>
            </a:r>
          </a:p>
        </p:txBody>
      </p:sp>
      <p:sp>
        <p:nvSpPr>
          <p:cNvPr id="30" name="s7-foot">
            <a:extLst xmlns:a="http://schemas.openxmlformats.org/drawingml/2006/main">
              <a:ext uri="{FF2B5EF4-FFF2-40B4-BE49-F238E27FC236}">
                <a16:creationId xmlns:a16="http://schemas.microsoft.com/office/drawing/2014/main" id="{D323EBC9-E49B-4281-BEE1-F7A02B8A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912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IRTV links what is needed, who acts, what they do and what they see — all grounded in the selected process.</a:t>
            </a:r>
          </a:p>
        </p:txBody>
      </p:sp>
    </p:spTree>
    <p:extLst>
      <p:ext uri="{BB962C8B-B14F-4D97-AF65-F5344CB8AC3E}">
        <p14:creationId xmlns:p14="http://schemas.microsoft.com/office/powerpoint/2010/main" val="1196921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8">
            <a:extLst xmlns:a="http://schemas.openxmlformats.org/drawingml/2006/main">
              <a:ext uri="{FF2B5EF4-FFF2-40B4-BE49-F238E27FC236}">
                <a16:creationId xmlns:a16="http://schemas.microsoft.com/office/drawing/2014/main" id="{40312D4B-F4C4-4BF9-B69B-AD183EF1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EVOLUTION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B5ECAA3-AC8D-4877-831D-FABD4C47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Mimris now shortens the path from knowledge to execution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D4480E7A-6CD2-4E06-91BA-00FF35F8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s8-then">
            <a:extLst xmlns:a="http://schemas.openxmlformats.org/drawingml/2006/main">
              <a:ext uri="{FF2B5EF4-FFF2-40B4-BE49-F238E27FC236}">
                <a16:creationId xmlns:a16="http://schemas.microsoft.com/office/drawing/2014/main" id="{FEA3009B-E8CF-47EE-94D1-4E852D9C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KAVCA / AMAP</a:t>
            </a:r>
          </a:p>
        </p:txBody>
      </p:sp>
      <p:sp>
        <p:nvSpPr>
          <p:cNvPr id="6" name="s8-now">
            <a:extLst xmlns:a="http://schemas.openxmlformats.org/drawingml/2006/main">
              <a:ext uri="{FF2B5EF4-FFF2-40B4-BE49-F238E27FC236}">
                <a16:creationId xmlns:a16="http://schemas.microsoft.com/office/drawing/2014/main" id="{D3770887-CAC1-4283-B3D1-C6C8D58F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MIMRIS AI WORKSPACE</a:t>
            </a:r>
          </a:p>
        </p:txBody>
      </p:sp>
      <p:sp>
        <p:nvSpPr>
          <p:cNvPr id="7" name="s8-left">
            <a:extLst xmlns:a="http://schemas.openxmlformats.org/drawingml/2006/main">
              <a:ext uri="{FF2B5EF4-FFF2-40B4-BE49-F238E27FC236}">
                <a16:creationId xmlns:a16="http://schemas.microsoft.com/office/drawing/2014/main" id="{64EFA956-6847-43AE-872D-4E5FF14C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57400"/>
            <a:ext cx="4286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8" name="s8-right">
            <a:extLst xmlns:a="http://schemas.openxmlformats.org/drawingml/2006/main">
              <a:ext uri="{FF2B5EF4-FFF2-40B4-BE49-F238E27FC236}">
                <a16:creationId xmlns:a16="http://schemas.microsoft.com/office/drawing/2014/main" id="{15C87A88-6B1D-439B-BC7B-BA29321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57400"/>
            <a:ext cx="46863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9" name="s8-l-0">
            <a:extLst xmlns:a="http://schemas.openxmlformats.org/drawingml/2006/main">
              <a:ext uri="{FF2B5EF4-FFF2-40B4-BE49-F238E27FC236}">
                <a16:creationId xmlns:a16="http://schemas.microsoft.com/office/drawing/2014/main" id="{AED0E955-44A3-445B-AF31-EEFBE218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01  Domain experts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876300" y="28003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11" name="s8-l-1">
            <a:extLst xmlns:a="http://schemas.openxmlformats.org/drawingml/2006/main">
              <a:ext uri="{FF2B5EF4-FFF2-40B4-BE49-F238E27FC236}">
                <a16:creationId xmlns:a16="http://schemas.microsoft.com/office/drawing/2014/main" id="{762DC336-9431-461A-991E-64507339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02  Manual AKM modelling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876300" y="34861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13" name="s8-l-2">
            <a:extLst xmlns:a="http://schemas.openxmlformats.org/drawingml/2006/main">
              <a:ext uri="{FF2B5EF4-FFF2-40B4-BE49-F238E27FC236}">
                <a16:creationId xmlns:a16="http://schemas.microsoft.com/office/drawing/2014/main" id="{BB39B128-1A60-44A4-996C-9614DD5F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03  Connected knowledge model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876300" y="41719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15" name="s8-l-3">
            <a:extLst xmlns:a="http://schemas.openxmlformats.org/drawingml/2006/main">
              <a:ext uri="{FF2B5EF4-FFF2-40B4-BE49-F238E27FC236}">
                <a16:creationId xmlns:a16="http://schemas.microsoft.com/office/drawing/2014/main" id="{6F1165A6-10E1-48A3-BB16-3E861D3C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04  Role-specific workplaces</a:t>
            </a:r>
          </a:p>
        </p:txBody>
      </p:sp>
      <p:sp>
        <p:nvSpPr>
          <p:cNvPr id="16" name="s8-r-0">
            <a:extLst xmlns:a="http://schemas.openxmlformats.org/drawingml/2006/main">
              <a:ext uri="{FF2B5EF4-FFF2-40B4-BE49-F238E27FC236}">
                <a16:creationId xmlns:a16="http://schemas.microsoft.com/office/drawing/2014/main" id="{AC6999C0-D567-4C83-A357-56C59039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01  Domain knowledge + documents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7543800" y="28003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DDEA"/>
            </a:solidFill>
            <a:prstDash val="solid"/>
          </a:ln>
        </p:spPr>
      </p:cxnSp>
      <p:sp>
        <p:nvSpPr>
          <p:cNvPr id="18" name="s8-r-1">
            <a:extLst xmlns:a="http://schemas.openxmlformats.org/drawingml/2006/main">
              <a:ext uri="{FF2B5EF4-FFF2-40B4-BE49-F238E27FC236}">
                <a16:creationId xmlns:a16="http://schemas.microsoft.com/office/drawing/2014/main" id="{4631E92E-B079-4DB3-9F77-F89A1E31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670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02  AI-assisted AKM transformations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7543800" y="3486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DDEA"/>
            </a:solidFill>
            <a:prstDash val="solid"/>
          </a:ln>
        </p:spPr>
      </p:cxnSp>
      <p:sp>
        <p:nvSpPr>
          <p:cNvPr id="20" name="s8-r-2">
            <a:extLst xmlns:a="http://schemas.openxmlformats.org/drawingml/2006/main">
              <a:ext uri="{FF2B5EF4-FFF2-40B4-BE49-F238E27FC236}">
                <a16:creationId xmlns:a16="http://schemas.microsoft.com/office/drawing/2014/main" id="{2393CC0E-2E39-4610-8865-1319963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03  Ontology → POPS → IRTV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7543800" y="41719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DDEA"/>
            </a:solidFill>
            <a:prstDash val="solid"/>
          </a:ln>
        </p:spPr>
      </p:cxnSp>
      <p:sp>
        <p:nvSpPr>
          <p:cNvPr id="22" name="s8-r-3">
            <a:extLst xmlns:a="http://schemas.openxmlformats.org/drawingml/2006/main">
              <a:ext uri="{FF2B5EF4-FFF2-40B4-BE49-F238E27FC236}">
                <a16:creationId xmlns:a16="http://schemas.microsoft.com/office/drawing/2014/main" id="{1B21BF6B-580B-47F7-BA35-F9F4166E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04  Connected operational workplace</a:t>
            </a:r>
          </a:p>
        </p:txBody>
      </p:sp>
      <p:sp>
        <p:nvSpPr>
          <p:cNvPr id="23" name="s8-arrow">
            <a:extLst xmlns:a="http://schemas.openxmlformats.org/drawingml/2006/main">
              <a:ext uri="{FF2B5EF4-FFF2-40B4-BE49-F238E27FC236}">
                <a16:creationId xmlns:a16="http://schemas.microsoft.com/office/drawing/2014/main" id="{19B3E44E-AF7C-4BFC-978F-A939916C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19450"/>
            <a:ext cx="123825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24" name="s8-arrow-text">
            <a:extLst xmlns:a="http://schemas.openxmlformats.org/drawingml/2006/main">
              <a:ext uri="{FF2B5EF4-FFF2-40B4-BE49-F238E27FC236}">
                <a16:creationId xmlns:a16="http://schemas.microsoft.com/office/drawing/2014/main" id="{C881A527-BCE0-4586-A094-8A8B825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004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61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61B35"/>
                </a:solidFill>
                <a:latin typeface="Helvetica Neue"/>
                <a:ea typeface="Helvetica Neue"/>
                <a:cs typeface="Helvetica Neue"/>
              </a:rPr>
              <a:t>EVOLVED</a:t>
            </a:r>
          </a:p>
        </p:txBody>
      </p:sp>
      <p:sp>
        <p:nvSpPr>
          <p:cNvPr id="25" name="s8-bottom">
            <a:extLst xmlns:a="http://schemas.openxmlformats.org/drawingml/2006/main">
              <a:ext uri="{FF2B5EF4-FFF2-40B4-BE49-F238E27FC236}">
                <a16:creationId xmlns:a16="http://schemas.microsoft.com/office/drawing/2014/main" id="{FA7F83B2-5B66-4D59-AC03-E4BFE0E9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96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The method stays disciplined. AI reduces the effort required to create, connect and refine the models.</a:t>
            </a:r>
          </a:p>
        </p:txBody>
      </p:sp>
    </p:spTree>
    <p:extLst>
      <p:ext uri="{BB962C8B-B14F-4D97-AF65-F5344CB8AC3E}">
        <p14:creationId xmlns:p14="http://schemas.microsoft.com/office/powerpoint/2010/main" val="581388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-9">
            <a:extLst xmlns:a="http://schemas.openxmlformats.org/drawingml/2006/main">
              <a:ext uri="{FF2B5EF4-FFF2-40B4-BE49-F238E27FC236}">
                <a16:creationId xmlns:a16="http://schemas.microsoft.com/office/drawing/2014/main" id="{4D655493-6B51-4A92-988D-3D792CD7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PROPOSED NEXT STEP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7586311-EFC6-43F5-9371-1B750BA1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Start with one focused Equinor OSDU process pilot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0805DC96-1042-453D-97E7-F898E3D0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s9-p-0">
            <a:extLst xmlns:a="http://schemas.openxmlformats.org/drawingml/2006/main">
              <a:ext uri="{FF2B5EF4-FFF2-40B4-BE49-F238E27FC236}">
                <a16:creationId xmlns:a16="http://schemas.microsoft.com/office/drawing/2014/main" id="{73E16AC9-D364-411A-8336-0CD6DACA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3524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6" name="s9-band-0">
            <a:extLst xmlns:a="http://schemas.openxmlformats.org/drawingml/2006/main">
              <a:ext uri="{FF2B5EF4-FFF2-40B4-BE49-F238E27FC236}">
                <a16:creationId xmlns:a16="http://schemas.microsoft.com/office/drawing/2014/main" id="{11998E3E-D94D-43C3-91CA-F0D2349C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3524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7" name="s9-ph-0">
            <a:extLst xmlns:a="http://schemas.openxmlformats.org/drawingml/2006/main">
              <a:ext uri="{FF2B5EF4-FFF2-40B4-BE49-F238E27FC236}">
                <a16:creationId xmlns:a16="http://schemas.microsoft.com/office/drawing/2014/main" id="{986BFB2F-9618-413C-8404-79948566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COMPUTAS</a:t>
            </a:r>
          </a:p>
        </p:txBody>
      </p:sp>
      <p:sp>
        <p:nvSpPr>
          <p:cNvPr id="8" name="s9-pb-0">
            <a:extLst xmlns:a="http://schemas.openxmlformats.org/drawingml/2006/main">
              <a:ext uri="{FF2B5EF4-FFF2-40B4-BE49-F238E27FC236}">
                <a16:creationId xmlns:a16="http://schemas.microsoft.com/office/drawing/2014/main" id="{CDDE505D-953C-4541-A15B-CBB7F479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Equinor relationship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OSDU and delivery expertise</a:t>
            </a:r>
          </a:p>
        </p:txBody>
      </p:sp>
      <p:sp>
        <p:nvSpPr>
          <p:cNvPr id="9" name="s9-p-1">
            <a:extLst xmlns:a="http://schemas.openxmlformats.org/drawingml/2006/main">
              <a:ext uri="{FF2B5EF4-FFF2-40B4-BE49-F238E27FC236}">
                <a16:creationId xmlns:a16="http://schemas.microsoft.com/office/drawing/2014/main" id="{010114E7-5649-48C1-B7F1-197156A6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95450"/>
            <a:ext cx="3524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0" name="s9-band-1">
            <a:extLst xmlns:a="http://schemas.openxmlformats.org/drawingml/2006/main">
              <a:ext uri="{FF2B5EF4-FFF2-40B4-BE49-F238E27FC236}">
                <a16:creationId xmlns:a16="http://schemas.microsoft.com/office/drawing/2014/main" id="{5DA20343-6096-48F0-975A-5EA6CD35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95450"/>
            <a:ext cx="3524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s9-ph-1">
            <a:extLst xmlns:a="http://schemas.openxmlformats.org/drawingml/2006/main">
              <a:ext uri="{FF2B5EF4-FFF2-40B4-BE49-F238E27FC236}">
                <a16:creationId xmlns:a16="http://schemas.microsoft.com/office/drawing/2014/main" id="{9A8BA146-0F79-4FBA-8463-56E3622C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0025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MIMRIS</a:t>
            </a:r>
          </a:p>
        </p:txBody>
      </p:sp>
      <p:sp>
        <p:nvSpPr>
          <p:cNvPr id="12" name="s9-pb-1">
            <a:extLst xmlns:a="http://schemas.openxmlformats.org/drawingml/2006/main">
              <a:ext uri="{FF2B5EF4-FFF2-40B4-BE49-F238E27FC236}">
                <a16:creationId xmlns:a16="http://schemas.microsoft.com/office/drawing/2014/main" id="{632FD369-7573-4068-B63B-95B9D162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193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AKM method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AI modelling workspace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Product and support</a:t>
            </a:r>
          </a:p>
        </p:txBody>
      </p:sp>
      <p:sp>
        <p:nvSpPr>
          <p:cNvPr id="13" name="s9-p-2">
            <a:extLst xmlns:a="http://schemas.openxmlformats.org/drawingml/2006/main">
              <a:ext uri="{FF2B5EF4-FFF2-40B4-BE49-F238E27FC236}">
                <a16:creationId xmlns:a16="http://schemas.microsoft.com/office/drawing/2014/main" id="{3ADDA805-0987-4221-A208-E17F318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3524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4" name="s9-band-2">
            <a:extLst xmlns:a="http://schemas.openxmlformats.org/drawingml/2006/main">
              <a:ext uri="{FF2B5EF4-FFF2-40B4-BE49-F238E27FC236}">
                <a16:creationId xmlns:a16="http://schemas.microsoft.com/office/drawing/2014/main" id="{1F19CF43-7A34-42F8-9247-8F552AD3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3524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5" name="s9-ph-2">
            <a:extLst xmlns:a="http://schemas.openxmlformats.org/drawingml/2006/main">
              <a:ext uri="{FF2B5EF4-FFF2-40B4-BE49-F238E27FC236}">
                <a16:creationId xmlns:a16="http://schemas.microsoft.com/office/drawing/2014/main" id="{C5D26CC6-99A8-4DFB-9BAA-DF1BC818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EQUINOR</a:t>
            </a:r>
          </a:p>
        </p:txBody>
      </p:sp>
      <p:sp>
        <p:nvSpPr>
          <p:cNvPr id="16" name="s9-pb-2">
            <a:extLst xmlns:a="http://schemas.openxmlformats.org/drawingml/2006/main">
              <a:ext uri="{FF2B5EF4-FFF2-40B4-BE49-F238E27FC236}">
                <a16:creationId xmlns:a16="http://schemas.microsoft.com/office/drawing/2014/main" id="{F87D63E4-157B-4618-80F4-7BB30451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Domain knowledge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Requirements and validation</a:t>
            </a:r>
          </a:p>
        </p:txBody>
      </p:sp>
      <p:sp>
        <p:nvSpPr>
          <p:cNvPr id="17" name="s9-equals">
            <a:extLst xmlns:a="http://schemas.openxmlformats.org/drawingml/2006/main">
              <a:ext uri="{FF2B5EF4-FFF2-40B4-BE49-F238E27FC236}">
                <a16:creationId xmlns:a16="http://schemas.microsoft.com/office/drawing/2014/main" id="{A99C3FA3-E632-4D93-B281-FB09B8F6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Together: discover → model → validate → improve → operationalize</a:t>
            </a:r>
          </a:p>
        </p:txBody>
      </p:sp>
      <p:sp>
        <p:nvSpPr>
          <p:cNvPr id="18" name="s9-n-0">
            <a:extLst xmlns:a="http://schemas.openxmlformats.org/drawingml/2006/main">
              <a:ext uri="{FF2B5EF4-FFF2-40B4-BE49-F238E27FC236}">
                <a16:creationId xmlns:a16="http://schemas.microsoft.com/office/drawing/2014/main" id="{FA01BF5A-741F-475B-9BC9-5F654137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767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s9-h-0">
            <a:extLst xmlns:a="http://schemas.openxmlformats.org/drawingml/2006/main">
              <a:ext uri="{FF2B5EF4-FFF2-40B4-BE49-F238E27FC236}">
                <a16:creationId xmlns:a16="http://schemas.microsoft.com/office/drawing/2014/main" id="{41E2BA56-6AE0-4B09-BF75-45ADF511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20" name="s9-b-0">
            <a:extLst xmlns:a="http://schemas.openxmlformats.org/drawingml/2006/main">
              <a:ext uri="{FF2B5EF4-FFF2-40B4-BE49-F238E27FC236}">
                <a16:creationId xmlns:a16="http://schemas.microsoft.com/office/drawing/2014/main" id="{731891B1-B8B7-4C01-AA01-F8A8A80E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Confirm one process and source material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419100" y="53625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22" name="s9-n-1">
            <a:extLst xmlns:a="http://schemas.openxmlformats.org/drawingml/2006/main">
              <a:ext uri="{FF2B5EF4-FFF2-40B4-BE49-F238E27FC236}">
                <a16:creationId xmlns:a16="http://schemas.microsoft.com/office/drawing/2014/main" id="{59B5E881-CB8E-4257-B9D2-3BCC265D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767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3" name="s9-h-1">
            <a:extLst xmlns:a="http://schemas.openxmlformats.org/drawingml/2006/main">
              <a:ext uri="{FF2B5EF4-FFF2-40B4-BE49-F238E27FC236}">
                <a16:creationId xmlns:a16="http://schemas.microsoft.com/office/drawing/2014/main" id="{0A2EECF5-F662-4323-B039-42C1CA3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4" name="s9-b-1">
            <a:extLst xmlns:a="http://schemas.openxmlformats.org/drawingml/2006/main">
              <a:ext uri="{FF2B5EF4-FFF2-40B4-BE49-F238E27FC236}">
                <a16:creationId xmlns:a16="http://schemas.microsoft.com/office/drawing/2014/main" id="{92E5159B-795B-4407-8D8E-91993828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482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Definition → ontology → POPS → IRTV</a:t>
            </a:r>
          </a:p>
        </p:txBody>
      </p:sp>
      <p:cxnSp>
        <p:nvCxnSpPr>
          <p:cNvPr id="93" name=""/>
          <p:cNvCxnSpPr/>
          <p:nvPr/>
        </p:nvCxnSpPr>
        <p:spPr>
          <a:xfrm xmlns:a="http://schemas.openxmlformats.org/drawingml/2006/main">
            <a:off x="3267075" y="53625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26" name="s9-n-2">
            <a:extLst xmlns:a="http://schemas.openxmlformats.org/drawingml/2006/main">
              <a:ext uri="{FF2B5EF4-FFF2-40B4-BE49-F238E27FC236}">
                <a16:creationId xmlns:a16="http://schemas.microsoft.com/office/drawing/2014/main" id="{B6B5E1BE-DC7B-4A01-80B5-BDD110D2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767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7" name="s9-h-2">
            <a:extLst xmlns:a="http://schemas.openxmlformats.org/drawingml/2006/main">
              <a:ext uri="{FF2B5EF4-FFF2-40B4-BE49-F238E27FC236}">
                <a16:creationId xmlns:a16="http://schemas.microsoft.com/office/drawing/2014/main" id="{DBF8FC3B-702B-4EA5-BD0C-7234A0EF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28" name="s9-b-2">
            <a:extLst xmlns:a="http://schemas.openxmlformats.org/drawingml/2006/main">
              <a:ext uri="{FF2B5EF4-FFF2-40B4-BE49-F238E27FC236}">
                <a16:creationId xmlns:a16="http://schemas.microsoft.com/office/drawing/2014/main" id="{A60701BB-7EA2-4044-92A0-C51E4A44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Review with domain and OSDU stakeholders</a:t>
            </a:r>
          </a:p>
        </p:txBody>
      </p:sp>
      <p:cxnSp>
        <p:nvCxnSpPr>
          <p:cNvPr id="97" name=""/>
          <p:cNvCxnSpPr/>
          <p:nvPr/>
        </p:nvCxnSpPr>
        <p:spPr>
          <a:xfrm xmlns:a="http://schemas.openxmlformats.org/drawingml/2006/main">
            <a:off x="6115050" y="53625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30" name="s9-n-3">
            <a:extLst xmlns:a="http://schemas.openxmlformats.org/drawingml/2006/main">
              <a:ext uri="{FF2B5EF4-FFF2-40B4-BE49-F238E27FC236}">
                <a16:creationId xmlns:a16="http://schemas.microsoft.com/office/drawing/2014/main" id="{835F7ED8-9927-4071-A7C2-D3EEA49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767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1" name="s9-h-3">
            <a:extLst xmlns:a="http://schemas.openxmlformats.org/drawingml/2006/main">
              <a:ext uri="{FF2B5EF4-FFF2-40B4-BE49-F238E27FC236}">
                <a16:creationId xmlns:a16="http://schemas.microsoft.com/office/drawing/2014/main" id="{0A9E69FF-A97E-41CA-97ED-73D9E9B0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Demonstrate</a:t>
            </a:r>
          </a:p>
        </p:txBody>
      </p:sp>
      <p:sp>
        <p:nvSpPr>
          <p:cNvPr id="32" name="s9-b-3">
            <a:extLst xmlns:a="http://schemas.openxmlformats.org/drawingml/2006/main">
              <a:ext uri="{FF2B5EF4-FFF2-40B4-BE49-F238E27FC236}">
                <a16:creationId xmlns:a16="http://schemas.microsoft.com/office/drawing/2014/main" id="{2BB4CBD2-E582-4A14-8AE3-5334DF8C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482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Show the connected operational representation</a:t>
            </a:r>
          </a:p>
        </p:txBody>
      </p:sp>
      <p:cxnSp>
        <p:nvCxnSpPr>
          <p:cNvPr id="101" name=""/>
          <p:cNvCxnSpPr/>
          <p:nvPr/>
        </p:nvCxnSpPr>
        <p:spPr>
          <a:xfrm xmlns:a="http://schemas.openxmlformats.org/drawingml/2006/main">
            <a:off x="8963025" y="53625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DF22"/>
            </a:solidFill>
            <a:prstDash val="solid"/>
          </a:ln>
        </p:spPr>
      </p:cxnSp>
      <p:sp>
        <p:nvSpPr>
          <p:cNvPr id="34" name="s9-demo">
            <a:extLst xmlns:a="http://schemas.openxmlformats.org/drawingml/2006/main">
              <a:ext uri="{FF2B5EF4-FFF2-40B4-BE49-F238E27FC236}">
                <a16:creationId xmlns:a16="http://schemas.microsoft.com/office/drawing/2014/main" id="{74D2FA60-6EC0-4844-9377-D2B6A976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53100"/>
            <a:ext cx="81153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35" name="s9-demo-text">
            <a:extLst xmlns:a="http://schemas.openxmlformats.org/drawingml/2006/main">
              <a:ext uri="{FF2B5EF4-FFF2-40B4-BE49-F238E27FC236}">
                <a16:creationId xmlns:a16="http://schemas.microsoft.com/office/drawing/2014/main" id="{B6C8B462-02EB-462C-A549-22605A91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05500"/>
            <a:ext cx="767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Now: show the actual Seismic Interpretation domain in Mimris AI Workspace</a:t>
            </a:r>
          </a:p>
        </p:txBody>
      </p:sp>
    </p:spTree>
    <p:extLst>
      <p:ext uri="{BB962C8B-B14F-4D97-AF65-F5344CB8AC3E}">
        <p14:creationId xmlns:p14="http://schemas.microsoft.com/office/powerpoint/2010/main" val="385689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0">
            <a:extLst xmlns:a="http://schemas.openxmlformats.org/drawingml/2006/main">
              <a:ext uri="{FF2B5EF4-FFF2-40B4-BE49-F238E27FC236}">
                <a16:creationId xmlns:a16="http://schemas.microsoft.com/office/drawing/2014/main" id="{8072940C-088E-4B53-BB1D-CE276305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DF076DA-2D16-4341-9446-BCD6C416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Earlier Equinor proof: shared model and role-specific work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CB07277A-5394-4D5E-9D38-6243600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69e876f9b4dd8"/>
          <a:stretch xmlns:a="http://schemas.openxmlformats.org/drawingml/2006/main"/>
        </p:blipFill>
        <p:spPr>
          <a:xfrm xmlns:a="http://schemas.openxmlformats.org/drawingml/2006/main">
            <a:off x="419100" y="1683544"/>
            <a:ext cx="7239000" cy="4071938"/>
          </a:xfrm>
          <a:prstGeom xmlns:a="http://schemas.openxmlformats.org/drawingml/2006/main" prst="roundRect">
            <a:avLst>
              <a:gd name="adj" fmla="val 1751"/>
            </a:avLst>
          </a:prstGeom>
        </p:spPr>
      </p:pic>
      <p:sp>
        <p:nvSpPr>
          <p:cNvPr id="6" name="s10-side-h">
            <a:extLst xmlns:a="http://schemas.openxmlformats.org/drawingml/2006/main">
              <a:ext uri="{FF2B5EF4-FFF2-40B4-BE49-F238E27FC236}">
                <a16:creationId xmlns:a16="http://schemas.microsoft.com/office/drawing/2014/main" id="{BCE3E5FA-BDB9-49C3-9082-45FD12D3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What it demonstrated</a:t>
            </a:r>
          </a:p>
        </p:txBody>
      </p:sp>
      <p:sp>
        <p:nvSpPr>
          <p:cNvPr id="7" name="s10-dot-0">
            <a:extLst xmlns:a="http://schemas.openxmlformats.org/drawingml/2006/main">
              <a:ext uri="{FF2B5EF4-FFF2-40B4-BE49-F238E27FC236}">
                <a16:creationId xmlns:a16="http://schemas.microsoft.com/office/drawing/2014/main" id="{9C902534-0A58-42E9-AF0F-250DC33E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95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s10-b-0">
            <a:extLst xmlns:a="http://schemas.openxmlformats.org/drawingml/2006/main">
              <a:ext uri="{FF2B5EF4-FFF2-40B4-BE49-F238E27FC236}">
                <a16:creationId xmlns:a16="http://schemas.microsoft.com/office/drawing/2014/main" id="{2B33A26D-2FA9-4F2C-B549-16F1741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One connected decision context</a:t>
            </a:r>
          </a:p>
        </p:txBody>
      </p:sp>
      <p:sp>
        <p:nvSpPr>
          <p:cNvPr id="9" name="s10-dot-1">
            <a:extLst xmlns:a="http://schemas.openxmlformats.org/drawingml/2006/main">
              <a:ext uri="{FF2B5EF4-FFF2-40B4-BE49-F238E27FC236}">
                <a16:creationId xmlns:a16="http://schemas.microsoft.com/office/drawing/2014/main" id="{E42F8388-5EF3-4B05-B307-662F9448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19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s10-b-1">
            <a:extLst xmlns:a="http://schemas.openxmlformats.org/drawingml/2006/main">
              <a:ext uri="{FF2B5EF4-FFF2-40B4-BE49-F238E27FC236}">
                <a16:creationId xmlns:a16="http://schemas.microsoft.com/office/drawing/2014/main" id="{12C944A3-F853-4F66-B7B8-83B25DF1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337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Roles, tasks and information linked</a:t>
            </a:r>
          </a:p>
        </p:txBody>
      </p:sp>
      <p:sp>
        <p:nvSpPr>
          <p:cNvPr id="11" name="s10-dot-2">
            <a:extLst xmlns:a="http://schemas.openxmlformats.org/drawingml/2006/main">
              <a:ext uri="{FF2B5EF4-FFF2-40B4-BE49-F238E27FC236}">
                <a16:creationId xmlns:a16="http://schemas.microsoft.com/office/drawing/2014/main" id="{DCC6C24E-C79A-495D-A21A-34DADB72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43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2" name="s10-b-2">
            <a:extLst xmlns:a="http://schemas.openxmlformats.org/drawingml/2006/main">
              <a:ext uri="{FF2B5EF4-FFF2-40B4-BE49-F238E27FC236}">
                <a16:creationId xmlns:a16="http://schemas.microsoft.com/office/drawing/2014/main" id="{5B923DD6-FDC4-4C26-8084-97F51251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Different operational views from the same model</a:t>
            </a:r>
          </a:p>
        </p:txBody>
      </p:sp>
      <p:sp>
        <p:nvSpPr>
          <p:cNvPr id="13" name="s10-dot-3">
            <a:extLst xmlns:a="http://schemas.openxmlformats.org/drawingml/2006/main">
              <a:ext uri="{FF2B5EF4-FFF2-40B4-BE49-F238E27FC236}">
                <a16:creationId xmlns:a16="http://schemas.microsoft.com/office/drawing/2014/main" id="{E1B42AB0-26F9-4056-B9FF-B01BC90A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67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4" name="s10-b-3">
            <a:extLst xmlns:a="http://schemas.openxmlformats.org/drawingml/2006/main">
              <a:ext uri="{FF2B5EF4-FFF2-40B4-BE49-F238E27FC236}">
                <a16:creationId xmlns:a16="http://schemas.microsoft.com/office/drawing/2014/main" id="{5F448275-056E-4072-9A3E-92C8D14D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Traceability from outcome to action</a:t>
            </a:r>
          </a:p>
        </p:txBody>
      </p:sp>
      <p:sp>
        <p:nvSpPr>
          <p:cNvPr id="15" name="s10-call">
            <a:extLst xmlns:a="http://schemas.openxmlformats.org/drawingml/2006/main">
              <a:ext uri="{FF2B5EF4-FFF2-40B4-BE49-F238E27FC236}">
                <a16:creationId xmlns:a16="http://schemas.microsoft.com/office/drawing/2014/main" id="{065347BC-194B-4F04-81DE-522269B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14950"/>
            <a:ext cx="335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6" name="s10-call-t">
            <a:extLst xmlns:a="http://schemas.openxmlformats.org/drawingml/2006/main">
              <a:ext uri="{FF2B5EF4-FFF2-40B4-BE49-F238E27FC236}">
                <a16:creationId xmlns:a16="http://schemas.microsoft.com/office/drawing/2014/main" id="{409A68FA-6174-43E6-8665-E711DE0E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340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Continuity: model → workplace</a:t>
            </a:r>
          </a:p>
        </p:txBody>
      </p:sp>
    </p:spTree>
    <p:extLst>
      <p:ext uri="{BB962C8B-B14F-4D97-AF65-F5344CB8AC3E}">
        <p14:creationId xmlns:p14="http://schemas.microsoft.com/office/powerpoint/2010/main" val="1903703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1">
            <a:extLst xmlns:a="http://schemas.openxmlformats.org/drawingml/2006/main">
              <a:ext uri="{FF2B5EF4-FFF2-40B4-BE49-F238E27FC236}">
                <a16:creationId xmlns:a16="http://schemas.microsoft.com/office/drawing/2014/main" id="{7802936A-3EBA-4A68-A78F-40306B5C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DA69CCB8-FC72-40F8-9281-C0A8EE83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Mimris already models and extends OSDU structures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EC51E96E-FC73-4900-A465-78E85F8A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s11-lead">
            <a:extLst xmlns:a="http://schemas.openxmlformats.org/drawingml/2006/main">
              <a:ext uri="{FF2B5EF4-FFF2-40B4-BE49-F238E27FC236}">
                <a16:creationId xmlns:a16="http://schemas.microsoft.com/office/drawing/2014/main" id="{E1EF25F2-1EC5-47F1-8C6E-2742206B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1135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The WellLog example imported an existing OSDU type, added acquisition context and preserved the full property set for export.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6c2bd14d546b7"/>
          <a:stretch xmlns:a="http://schemas.openxmlformats.org/drawingml/2006/main"/>
        </p:blipFill>
        <p:spPr>
          <a:xfrm xmlns:a="http://schemas.openxmlformats.org/drawingml/2006/main">
            <a:off x="1048808" y="2305050"/>
            <a:ext cx="6265333" cy="3524250"/>
          </a:xfrm>
          <a:prstGeom xmlns:a="http://schemas.openxmlformats.org/drawingml/2006/main" prst="roundRect">
            <a:avLst>
              <a:gd name="adj" fmla="val 2162"/>
            </a:avLst>
          </a:prstGeom>
        </p:spPr>
      </p:pic>
      <p:sp>
        <p:nvSpPr>
          <p:cNvPr id="7" name="s11-a-box">
            <a:extLst xmlns:a="http://schemas.openxmlformats.org/drawingml/2006/main">
              <a:ext uri="{FF2B5EF4-FFF2-40B4-BE49-F238E27FC236}">
                <a16:creationId xmlns:a16="http://schemas.microsoft.com/office/drawing/2014/main" id="{BE6F65CD-A16D-49AD-9129-81CC1A8D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8" name="s11-a-accent">
            <a:extLst xmlns:a="http://schemas.openxmlformats.org/drawingml/2006/main">
              <a:ext uri="{FF2B5EF4-FFF2-40B4-BE49-F238E27FC236}">
                <a16:creationId xmlns:a16="http://schemas.microsoft.com/office/drawing/2014/main" id="{02E85DE6-99AC-45B3-9D26-5D4F8879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9" name="s11-a-label">
            <a:extLst xmlns:a="http://schemas.openxmlformats.org/drawingml/2006/main">
              <a:ext uri="{FF2B5EF4-FFF2-40B4-BE49-F238E27FC236}">
                <a16:creationId xmlns:a16="http://schemas.microsoft.com/office/drawing/2014/main" id="{C1CC83BD-120D-452C-BF1C-A1F1B5B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14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Import</a:t>
            </a:r>
          </a:p>
        </p:txBody>
      </p:sp>
      <p:sp>
        <p:nvSpPr>
          <p:cNvPr id="10" name="s11-a-sub">
            <a:extLst xmlns:a="http://schemas.openxmlformats.org/drawingml/2006/main">
              <a:ext uri="{FF2B5EF4-FFF2-40B4-BE49-F238E27FC236}">
                <a16:creationId xmlns:a16="http://schemas.microsoft.com/office/drawing/2014/main" id="{8D8E8BD5-F9EF-41C6-90A6-B33633A5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670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Start from the known OSDU baseline</a:t>
            </a:r>
          </a:p>
        </p:txBody>
      </p:sp>
      <p:sp>
        <p:nvSpPr>
          <p:cNvPr id="11" name="s11-b-box">
            <a:extLst xmlns:a="http://schemas.openxmlformats.org/drawingml/2006/main">
              <a:ext uri="{FF2B5EF4-FFF2-40B4-BE49-F238E27FC236}">
                <a16:creationId xmlns:a16="http://schemas.microsoft.com/office/drawing/2014/main" id="{79614B03-547D-4419-94B4-E264CDC3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2" name="s11-b-accent">
            <a:extLst xmlns:a="http://schemas.openxmlformats.org/drawingml/2006/main">
              <a:ext uri="{FF2B5EF4-FFF2-40B4-BE49-F238E27FC236}">
                <a16:creationId xmlns:a16="http://schemas.microsoft.com/office/drawing/2014/main" id="{531667DE-5F8C-4B4D-9D73-6CAA1AF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s11-b-label">
            <a:extLst xmlns:a="http://schemas.openxmlformats.org/drawingml/2006/main">
              <a:ext uri="{FF2B5EF4-FFF2-40B4-BE49-F238E27FC236}">
                <a16:creationId xmlns:a16="http://schemas.microsoft.com/office/drawing/2014/main" id="{26EC9631-5297-4EE8-995B-C29957C3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Extend</a:t>
            </a:r>
          </a:p>
        </p:txBody>
      </p:sp>
      <p:sp>
        <p:nvSpPr>
          <p:cNvPr id="14" name="s11-b-sub">
            <a:extLst xmlns:a="http://schemas.openxmlformats.org/drawingml/2006/main">
              <a:ext uri="{FF2B5EF4-FFF2-40B4-BE49-F238E27FC236}">
                <a16:creationId xmlns:a16="http://schemas.microsoft.com/office/drawing/2014/main" id="{F593DB33-DF1F-4C3A-B0BF-8168A41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338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Add acquisition objects and identifiers</a:t>
            </a:r>
          </a:p>
        </p:txBody>
      </p:sp>
      <p:sp>
        <p:nvSpPr>
          <p:cNvPr id="15" name="s11-c-box">
            <a:extLst xmlns:a="http://schemas.openxmlformats.org/drawingml/2006/main">
              <a:ext uri="{FF2B5EF4-FFF2-40B4-BE49-F238E27FC236}">
                <a16:creationId xmlns:a16="http://schemas.microsoft.com/office/drawing/2014/main" id="{A0F079A4-A3A8-4AA7-B21B-23DF8D49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8D8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16" name="s11-c-accent">
            <a:extLst xmlns:a="http://schemas.openxmlformats.org/drawingml/2006/main">
              <a:ext uri="{FF2B5EF4-FFF2-40B4-BE49-F238E27FC236}">
                <a16:creationId xmlns:a16="http://schemas.microsoft.com/office/drawing/2014/main" id="{A13798A4-45DB-4922-A194-9264E7C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17" name="s11-c-label">
            <a:extLst xmlns:a="http://schemas.openxmlformats.org/drawingml/2006/main">
              <a:ext uri="{FF2B5EF4-FFF2-40B4-BE49-F238E27FC236}">
                <a16:creationId xmlns:a16="http://schemas.microsoft.com/office/drawing/2014/main" id="{ED24E927-8D8E-4DE0-9DEC-EC12D372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Export</a:t>
            </a:r>
          </a:p>
        </p:txBody>
      </p:sp>
      <p:sp>
        <p:nvSpPr>
          <p:cNvPr id="18" name="s11-c-sub">
            <a:extLst xmlns:a="http://schemas.openxmlformats.org/drawingml/2006/main">
              <a:ext uri="{FF2B5EF4-FFF2-40B4-BE49-F238E27FC236}">
                <a16:creationId xmlns:a16="http://schemas.microsoft.com/office/drawing/2014/main" id="{5999788D-A2B9-4C6C-8328-D64E368B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0062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Produce an adoption-ready package</a:t>
            </a:r>
          </a:p>
        </p:txBody>
      </p:sp>
      <p:sp>
        <p:nvSpPr>
          <p:cNvPr id="19" name="s11-foot">
            <a:extLst xmlns:a="http://schemas.openxmlformats.org/drawingml/2006/main">
              <a:ext uri="{FF2B5EF4-FFF2-40B4-BE49-F238E27FC236}">
                <a16:creationId xmlns:a16="http://schemas.microsoft.com/office/drawing/2014/main" id="{3A1FB512-8CC1-4AAB-975D-31E3C4A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62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Supporting evidence — the present opportunity is broader process modelling around OSDU.</a:t>
            </a:r>
          </a:p>
        </p:txBody>
      </p:sp>
    </p:spTree>
    <p:extLst>
      <p:ext uri="{BB962C8B-B14F-4D97-AF65-F5344CB8AC3E}">
        <p14:creationId xmlns:p14="http://schemas.microsoft.com/office/powerpoint/2010/main" val="4482273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kicker-12">
            <a:extLst xmlns:a="http://schemas.openxmlformats.org/drawingml/2006/main">
              <a:ext uri="{FF2B5EF4-FFF2-40B4-BE49-F238E27FC236}">
                <a16:creationId xmlns:a16="http://schemas.microsoft.com/office/drawing/2014/main" id="{6D5547E9-51B5-4877-BD72-15F3F266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40BBB21-BC11-4645-8EAE-A38103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AKM connects operating context to workplace detail</a:t>
            </a:r>
          </a:p>
        </p:txBody>
      </p:sp>
      <p:cxnSp>
        <p:nvCxnSpPr>
          <p:cNvPr id="85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D64E1374-1BCE-459B-A4DC-F43C9ADE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s12-pops">
            <a:extLst xmlns:a="http://schemas.openxmlformats.org/drawingml/2006/main">
              <a:ext uri="{FF2B5EF4-FFF2-40B4-BE49-F238E27FC236}">
                <a16:creationId xmlns:a16="http://schemas.microsoft.com/office/drawing/2014/main" id="{CD1C6C4A-2813-4863-9BED-1547889F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POPS</a:t>
            </a:r>
          </a:p>
        </p:txBody>
      </p:sp>
      <p:sp>
        <p:nvSpPr>
          <p:cNvPr id="6" name="s12-pops-sub">
            <a:extLst xmlns:a="http://schemas.openxmlformats.org/drawingml/2006/main">
              <a:ext uri="{FF2B5EF4-FFF2-40B4-BE49-F238E27FC236}">
                <a16:creationId xmlns:a16="http://schemas.microsoft.com/office/drawing/2014/main" id="{0A5CA141-6471-4897-9049-9999D5B8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52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The operating context</a:t>
            </a:r>
          </a:p>
        </p:txBody>
      </p:sp>
      <p:sp>
        <p:nvSpPr>
          <p:cNvPr id="7" name="s12-irtv">
            <a:extLst xmlns:a="http://schemas.openxmlformats.org/drawingml/2006/main">
              <a:ext uri="{FF2B5EF4-FFF2-40B4-BE49-F238E27FC236}">
                <a16:creationId xmlns:a16="http://schemas.microsoft.com/office/drawing/2014/main" id="{792B8794-E3EF-43BB-AC66-0A667526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F8E00"/>
                </a:solidFill>
                <a:latin typeface="Helvetica Neue"/>
                <a:ea typeface="Helvetica Neue"/>
                <a:cs typeface="Helvetica Neue"/>
              </a:rPr>
              <a:t>IRTV</a:t>
            </a:r>
          </a:p>
        </p:txBody>
      </p:sp>
      <p:sp>
        <p:nvSpPr>
          <p:cNvPr id="8" name="s12-irtv-sub">
            <a:extLst xmlns:a="http://schemas.openxmlformats.org/drawingml/2006/main">
              <a:ext uri="{FF2B5EF4-FFF2-40B4-BE49-F238E27FC236}">
                <a16:creationId xmlns:a16="http://schemas.microsoft.com/office/drawing/2014/main" id="{5D9A0695-B728-47A0-8705-5B145598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The selected workplace</a:t>
            </a:r>
          </a:p>
        </p:txBody>
      </p:sp>
      <p:sp>
        <p:nvSpPr>
          <p:cNvPr id="9" name="s12-pl-0">
            <a:extLst xmlns:a="http://schemas.openxmlformats.org/drawingml/2006/main">
              <a:ext uri="{FF2B5EF4-FFF2-40B4-BE49-F238E27FC236}">
                <a16:creationId xmlns:a16="http://schemas.microsoft.com/office/drawing/2014/main" id="{7E754902-8CAC-4A7C-ADC2-817AD8FB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s12-plt-0">
            <a:extLst xmlns:a="http://schemas.openxmlformats.org/drawingml/2006/main">
              <a:ext uri="{FF2B5EF4-FFF2-40B4-BE49-F238E27FC236}">
                <a16:creationId xmlns:a16="http://schemas.microsoft.com/office/drawing/2014/main" id="{77A9A201-4DC9-4D82-B3BD-BC2A39A3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76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</a:t>
            </a:r>
          </a:p>
        </p:txBody>
      </p:sp>
      <p:sp>
        <p:nvSpPr>
          <p:cNvPr id="11" name="s12-ph-0">
            <a:extLst xmlns:a="http://schemas.openxmlformats.org/drawingml/2006/main">
              <a:ext uri="{FF2B5EF4-FFF2-40B4-BE49-F238E27FC236}">
                <a16:creationId xmlns:a16="http://schemas.microsoft.com/office/drawing/2014/main" id="{D65300A4-6CA4-4D2C-A769-1ECAE08F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Processes</a:t>
            </a:r>
          </a:p>
        </p:txBody>
      </p:sp>
      <p:sp>
        <p:nvSpPr>
          <p:cNvPr id="12" name="s12-pb-0">
            <a:extLst xmlns:a="http://schemas.openxmlformats.org/drawingml/2006/main">
              <a:ext uri="{FF2B5EF4-FFF2-40B4-BE49-F238E27FC236}">
                <a16:creationId xmlns:a16="http://schemas.microsoft.com/office/drawing/2014/main" id="{15EE43C9-37A9-47DD-83D0-609C6D3B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work creates the outcome?</a:t>
            </a:r>
          </a:p>
        </p:txBody>
      </p:sp>
      <p:sp>
        <p:nvSpPr>
          <p:cNvPr id="13" name="s12-pl-1">
            <a:extLst xmlns:a="http://schemas.openxmlformats.org/drawingml/2006/main">
              <a:ext uri="{FF2B5EF4-FFF2-40B4-BE49-F238E27FC236}">
                <a16:creationId xmlns:a16="http://schemas.microsoft.com/office/drawing/2014/main" id="{E2C07828-100E-43AD-9B25-1822D35C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4" name="s12-plt-1">
            <a:extLst xmlns:a="http://schemas.openxmlformats.org/drawingml/2006/main">
              <a:ext uri="{FF2B5EF4-FFF2-40B4-BE49-F238E27FC236}">
                <a16:creationId xmlns:a16="http://schemas.microsoft.com/office/drawing/2014/main" id="{B2774FA5-5609-4FC3-92CF-35726675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</a:t>
            </a:r>
          </a:p>
        </p:txBody>
      </p:sp>
      <p:sp>
        <p:nvSpPr>
          <p:cNvPr id="15" name="s12-ph-1">
            <a:extLst xmlns:a="http://schemas.openxmlformats.org/drawingml/2006/main">
              <a:ext uri="{FF2B5EF4-FFF2-40B4-BE49-F238E27FC236}">
                <a16:creationId xmlns:a16="http://schemas.microsoft.com/office/drawing/2014/main" id="{0B5331F3-09F0-45D2-8207-A2B7A28D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Organization</a:t>
            </a:r>
          </a:p>
        </p:txBody>
      </p:sp>
      <p:sp>
        <p:nvSpPr>
          <p:cNvPr id="16" name="s12-pb-1">
            <a:extLst xmlns:a="http://schemas.openxmlformats.org/drawingml/2006/main">
              <a:ext uri="{FF2B5EF4-FFF2-40B4-BE49-F238E27FC236}">
                <a16:creationId xmlns:a16="http://schemas.microsoft.com/office/drawing/2014/main" id="{1368D738-F9AD-4FCF-B68B-E4DD9E28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Who owns, performs and governs it?</a:t>
            </a:r>
          </a:p>
        </p:txBody>
      </p:sp>
      <p:sp>
        <p:nvSpPr>
          <p:cNvPr id="17" name="s12-pl-2">
            <a:extLst xmlns:a="http://schemas.openxmlformats.org/drawingml/2006/main">
              <a:ext uri="{FF2B5EF4-FFF2-40B4-BE49-F238E27FC236}">
                <a16:creationId xmlns:a16="http://schemas.microsoft.com/office/drawing/2014/main" id="{F10AF260-D48B-47E9-B84E-E77E8091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8" name="s12-plt-2">
            <a:extLst xmlns:a="http://schemas.openxmlformats.org/drawingml/2006/main">
              <a:ext uri="{FF2B5EF4-FFF2-40B4-BE49-F238E27FC236}">
                <a16:creationId xmlns:a16="http://schemas.microsoft.com/office/drawing/2014/main" id="{D9E9523B-5173-49A8-AA2C-E5786E80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</a:t>
            </a:r>
          </a:p>
        </p:txBody>
      </p:sp>
      <p:sp>
        <p:nvSpPr>
          <p:cNvPr id="19" name="s12-ph-2">
            <a:extLst xmlns:a="http://schemas.openxmlformats.org/drawingml/2006/main">
              <a:ext uri="{FF2B5EF4-FFF2-40B4-BE49-F238E27FC236}">
                <a16:creationId xmlns:a16="http://schemas.microsoft.com/office/drawing/2014/main" id="{ED723E3F-3431-476B-BFB5-4DAE1CD9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Products</a:t>
            </a:r>
          </a:p>
        </p:txBody>
      </p:sp>
      <p:sp>
        <p:nvSpPr>
          <p:cNvPr id="20" name="s12-pb-2">
            <a:extLst xmlns:a="http://schemas.openxmlformats.org/drawingml/2006/main">
              <a:ext uri="{FF2B5EF4-FFF2-40B4-BE49-F238E27FC236}">
                <a16:creationId xmlns:a16="http://schemas.microsoft.com/office/drawing/2014/main" id="{834CAC4A-ACCD-4930-880E-CDD205AC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information or deliverables flow?</a:t>
            </a:r>
          </a:p>
        </p:txBody>
      </p:sp>
      <p:sp>
        <p:nvSpPr>
          <p:cNvPr id="21" name="s12-pl-3">
            <a:extLst xmlns:a="http://schemas.openxmlformats.org/drawingml/2006/main">
              <a:ext uri="{FF2B5EF4-FFF2-40B4-BE49-F238E27FC236}">
                <a16:creationId xmlns:a16="http://schemas.microsoft.com/office/drawing/2014/main" id="{B2E2153B-3AE8-4CB5-94FE-FEDC32AD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22" name="s12-plt-3">
            <a:extLst xmlns:a="http://schemas.openxmlformats.org/drawingml/2006/main">
              <a:ext uri="{FF2B5EF4-FFF2-40B4-BE49-F238E27FC236}">
                <a16:creationId xmlns:a16="http://schemas.microsoft.com/office/drawing/2014/main" id="{675998C5-15EE-4C0A-B139-1F6A1081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</a:t>
            </a:r>
          </a:p>
        </p:txBody>
      </p:sp>
      <p:sp>
        <p:nvSpPr>
          <p:cNvPr id="23" name="s12-ph-3">
            <a:extLst xmlns:a="http://schemas.openxmlformats.org/drawingml/2006/main">
              <a:ext uri="{FF2B5EF4-FFF2-40B4-BE49-F238E27FC236}">
                <a16:creationId xmlns:a16="http://schemas.microsoft.com/office/drawing/2014/main" id="{233A2B77-7C78-4D0B-BF0C-913AB4B1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Systems</a:t>
            </a:r>
          </a:p>
        </p:txBody>
      </p:sp>
      <p:sp>
        <p:nvSpPr>
          <p:cNvPr id="24" name="s12-pb-3">
            <a:extLst xmlns:a="http://schemas.openxmlformats.org/drawingml/2006/main">
              <a:ext uri="{FF2B5EF4-FFF2-40B4-BE49-F238E27FC236}">
                <a16:creationId xmlns:a16="http://schemas.microsoft.com/office/drawing/2014/main" id="{5FE42D0E-0DD1-4AD5-A8CC-F4C81921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Which platforms and applications support it?</a:t>
            </a:r>
          </a:p>
        </p:txBody>
      </p:sp>
      <p:sp>
        <p:nvSpPr>
          <p:cNvPr id="25" name="s12-il-0">
            <a:extLst xmlns:a="http://schemas.openxmlformats.org/drawingml/2006/main">
              <a:ext uri="{FF2B5EF4-FFF2-40B4-BE49-F238E27FC236}">
                <a16:creationId xmlns:a16="http://schemas.microsoft.com/office/drawing/2014/main" id="{DD14E996-7BD1-43DB-9A03-8BD381F3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6" name="s12-ilt-0">
            <a:extLst xmlns:a="http://schemas.openxmlformats.org/drawingml/2006/main">
              <a:ext uri="{FF2B5EF4-FFF2-40B4-BE49-F238E27FC236}">
                <a16:creationId xmlns:a16="http://schemas.microsoft.com/office/drawing/2014/main" id="{AE9834DA-32A6-4E58-AB92-32AF5090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</a:t>
            </a:r>
          </a:p>
        </p:txBody>
      </p:sp>
      <p:sp>
        <p:nvSpPr>
          <p:cNvPr id="27" name="s12-ih-0">
            <a:extLst xmlns:a="http://schemas.openxmlformats.org/drawingml/2006/main">
              <a:ext uri="{FF2B5EF4-FFF2-40B4-BE49-F238E27FC236}">
                <a16:creationId xmlns:a16="http://schemas.microsoft.com/office/drawing/2014/main" id="{F3B5EFD2-F8B7-4717-80F8-C9ED3FE3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Information</a:t>
            </a:r>
          </a:p>
        </p:txBody>
      </p:sp>
      <p:sp>
        <p:nvSpPr>
          <p:cNvPr id="28" name="s12-ib-0">
            <a:extLst xmlns:a="http://schemas.openxmlformats.org/drawingml/2006/main">
              <a:ext uri="{FF2B5EF4-FFF2-40B4-BE49-F238E27FC236}">
                <a16:creationId xmlns:a16="http://schemas.microsoft.com/office/drawing/2014/main" id="{B032DA0C-5911-4BC5-85E4-CDABC010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inputs, outputs and context are needed?</a:t>
            </a:r>
          </a:p>
        </p:txBody>
      </p:sp>
      <p:sp>
        <p:nvSpPr>
          <p:cNvPr id="29" name="s12-il-1">
            <a:extLst xmlns:a="http://schemas.openxmlformats.org/drawingml/2006/main">
              <a:ext uri="{FF2B5EF4-FFF2-40B4-BE49-F238E27FC236}">
                <a16:creationId xmlns:a16="http://schemas.microsoft.com/office/drawing/2014/main" id="{3744B30F-4571-4344-AA84-F9966699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30" name="s12-ilt-1">
            <a:extLst xmlns:a="http://schemas.openxmlformats.org/drawingml/2006/main">
              <a:ext uri="{FF2B5EF4-FFF2-40B4-BE49-F238E27FC236}">
                <a16:creationId xmlns:a16="http://schemas.microsoft.com/office/drawing/2014/main" id="{DE1FF0BC-32A3-42D7-AB16-3E164299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sp>
        <p:nvSpPr>
          <p:cNvPr id="31" name="s12-ih-1">
            <a:extLst xmlns:a="http://schemas.openxmlformats.org/drawingml/2006/main">
              <a:ext uri="{FF2B5EF4-FFF2-40B4-BE49-F238E27FC236}">
                <a16:creationId xmlns:a16="http://schemas.microsoft.com/office/drawing/2014/main" id="{FB36EF0A-F0C1-4458-959B-DBACFD1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05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Roles</a:t>
            </a:r>
          </a:p>
        </p:txBody>
      </p:sp>
      <p:sp>
        <p:nvSpPr>
          <p:cNvPr id="32" name="s12-ib-1">
            <a:extLst xmlns:a="http://schemas.openxmlformats.org/drawingml/2006/main">
              <a:ext uri="{FF2B5EF4-FFF2-40B4-BE49-F238E27FC236}">
                <a16:creationId xmlns:a16="http://schemas.microsoft.com/office/drawing/2014/main" id="{9B94B33F-C736-41FF-ACB4-9540918C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Who participates in this process?</a:t>
            </a:r>
          </a:p>
        </p:txBody>
      </p:sp>
      <p:sp>
        <p:nvSpPr>
          <p:cNvPr id="33" name="s12-il-2">
            <a:extLst xmlns:a="http://schemas.openxmlformats.org/drawingml/2006/main">
              <a:ext uri="{FF2B5EF4-FFF2-40B4-BE49-F238E27FC236}">
                <a16:creationId xmlns:a16="http://schemas.microsoft.com/office/drawing/2014/main" id="{BA402DB4-8B3B-4643-A9DE-2C20DC0E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F22"/>
          </a:solidFill>
          <a:ln xmlns:a="http://schemas.openxmlformats.org/drawingml/2006/main" w="9525">
            <a:solidFill>
              <a:srgbClr val="B7DF22"/>
            </a:solidFill>
            <a:prstDash val="solid"/>
          </a:ln>
        </p:spPr>
      </p:sp>
      <p:sp>
        <p:nvSpPr>
          <p:cNvPr id="34" name="s12-ilt-2">
            <a:extLst xmlns:a="http://schemas.openxmlformats.org/drawingml/2006/main">
              <a:ext uri="{FF2B5EF4-FFF2-40B4-BE49-F238E27FC236}">
                <a16:creationId xmlns:a16="http://schemas.microsoft.com/office/drawing/2014/main" id="{AD020B38-EE89-4F1D-8E7D-B832EC91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</p:txBody>
      </p:sp>
      <p:sp>
        <p:nvSpPr>
          <p:cNvPr id="35" name="s12-ih-2">
            <a:extLst xmlns:a="http://schemas.openxmlformats.org/drawingml/2006/main">
              <a:ext uri="{FF2B5EF4-FFF2-40B4-BE49-F238E27FC236}">
                <a16:creationId xmlns:a16="http://schemas.microsoft.com/office/drawing/2014/main" id="{580C6C98-968B-42EF-969F-4E130138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29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Tasks</a:t>
            </a:r>
          </a:p>
        </p:txBody>
      </p:sp>
      <p:sp>
        <p:nvSpPr>
          <p:cNvPr id="36" name="s12-ib-2">
            <a:extLst xmlns:a="http://schemas.openxmlformats.org/drawingml/2006/main">
              <a:ext uri="{FF2B5EF4-FFF2-40B4-BE49-F238E27FC236}">
                <a16:creationId xmlns:a16="http://schemas.microsoft.com/office/drawing/2014/main" id="{921D5E0A-5D7E-40ED-83BD-220A8F5B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291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actions and decisions are performed?</a:t>
            </a:r>
          </a:p>
        </p:txBody>
      </p:sp>
      <p:sp>
        <p:nvSpPr>
          <p:cNvPr id="37" name="s12-il-3">
            <a:extLst xmlns:a="http://schemas.openxmlformats.org/drawingml/2006/main">
              <a:ext uri="{FF2B5EF4-FFF2-40B4-BE49-F238E27FC236}">
                <a16:creationId xmlns:a16="http://schemas.microsoft.com/office/drawing/2014/main" id="{7B58510F-4A46-4994-8BF4-F7EF41DA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38" name="s12-ilt-3">
            <a:extLst xmlns:a="http://schemas.openxmlformats.org/drawingml/2006/main">
              <a:ext uri="{FF2B5EF4-FFF2-40B4-BE49-F238E27FC236}">
                <a16:creationId xmlns:a16="http://schemas.microsoft.com/office/drawing/2014/main" id="{D4E59CB3-832D-446A-A97E-6536D606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</a:t>
            </a:r>
          </a:p>
        </p:txBody>
      </p:sp>
      <p:sp>
        <p:nvSpPr>
          <p:cNvPr id="39" name="s12-ih-3">
            <a:extLst xmlns:a="http://schemas.openxmlformats.org/drawingml/2006/main">
              <a:ext uri="{FF2B5EF4-FFF2-40B4-BE49-F238E27FC236}">
                <a16:creationId xmlns:a16="http://schemas.microsoft.com/office/drawing/2014/main" id="{AA6A6DDB-8607-462E-9982-534A8E54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Views</a:t>
            </a:r>
          </a:p>
        </p:txBody>
      </p:sp>
      <p:sp>
        <p:nvSpPr>
          <p:cNvPr id="40" name="s12-ib-3">
            <a:extLst xmlns:a="http://schemas.openxmlformats.org/drawingml/2006/main">
              <a:ext uri="{FF2B5EF4-FFF2-40B4-BE49-F238E27FC236}">
                <a16:creationId xmlns:a16="http://schemas.microsoft.com/office/drawing/2014/main" id="{FEAE24D5-3391-48BF-88FB-C1751E92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530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must each role see and manipulate?</a:t>
            </a:r>
          </a:p>
        </p:txBody>
      </p:sp>
      <p:cxnSp>
        <p:nvCxnSpPr>
          <p:cNvPr id="123" name=""/>
          <p:cNvCxnSpPr/>
          <p:nvPr/>
        </p:nvCxnSpPr>
        <p:spPr>
          <a:xfrm xmlns:a="http://schemas.openxmlformats.org/drawingml/2006/main">
            <a:off x="5943600" y="16573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8925018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-13">
            <a:extLst xmlns:a="http://schemas.openxmlformats.org/drawingml/2006/main">
              <a:ext uri="{FF2B5EF4-FFF2-40B4-BE49-F238E27FC236}">
                <a16:creationId xmlns:a16="http://schemas.microsoft.com/office/drawing/2014/main" id="{6F350D3E-7B4F-474B-9A8B-6165911E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94D43860-A9D7-4AE3-90C0-EB85457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A pilot can be small, controlled and decision-oriented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19100" y="1304925"/>
            <a:ext cx="11353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2DA"/>
            </a:solidFill>
            <a:prstDash val="solid"/>
          </a:ln>
        </p:spPr>
      </p:cxn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C957529F-36C5-4625-B7CD-45BFF89A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s13-c-0">
            <a:extLst xmlns:a="http://schemas.openxmlformats.org/drawingml/2006/main">
              <a:ext uri="{FF2B5EF4-FFF2-40B4-BE49-F238E27FC236}">
                <a16:creationId xmlns:a16="http://schemas.microsoft.com/office/drawing/2014/main" id="{40CB9931-4004-46DF-95E3-AD8726B2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3524250" cy="38766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6" name="s13-h-0">
            <a:extLst xmlns:a="http://schemas.openxmlformats.org/drawingml/2006/main">
              <a:ext uri="{FF2B5EF4-FFF2-40B4-BE49-F238E27FC236}">
                <a16:creationId xmlns:a16="http://schemas.microsoft.com/office/drawing/2014/main" id="{97CEFD81-58E7-42B2-A032-36F6223F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7" name="s13-dot-0-0">
            <a:extLst xmlns:a="http://schemas.openxmlformats.org/drawingml/2006/main">
              <a:ext uri="{FF2B5EF4-FFF2-40B4-BE49-F238E27FC236}">
                <a16:creationId xmlns:a16="http://schemas.microsoft.com/office/drawing/2014/main" id="{D9AE88FB-6E7C-4D24-A34C-7B8C2D4C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8" name="s13-b-0-0">
            <a:extLst xmlns:a="http://schemas.openxmlformats.org/drawingml/2006/main">
              <a:ext uri="{FF2B5EF4-FFF2-40B4-BE49-F238E27FC236}">
                <a16:creationId xmlns:a16="http://schemas.microsoft.com/office/drawing/2014/main" id="{D4689122-9903-499B-B08D-7D4C0821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Existing process description</a:t>
            </a:r>
          </a:p>
        </p:txBody>
      </p:sp>
      <p:sp>
        <p:nvSpPr>
          <p:cNvPr id="9" name="s13-dot-0-1">
            <a:extLst xmlns:a="http://schemas.openxmlformats.org/drawingml/2006/main">
              <a:ext uri="{FF2B5EF4-FFF2-40B4-BE49-F238E27FC236}">
                <a16:creationId xmlns:a16="http://schemas.microsoft.com/office/drawing/2014/main" id="{04A093B1-89B6-4A82-A83C-A8ACA9DE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95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0" name="s13-b-0-1">
            <a:extLst xmlns:a="http://schemas.openxmlformats.org/drawingml/2006/main">
              <a:ext uri="{FF2B5EF4-FFF2-40B4-BE49-F238E27FC236}">
                <a16:creationId xmlns:a16="http://schemas.microsoft.com/office/drawing/2014/main" id="{D8A3C83C-1CCA-4B2B-90AA-937BB30B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Representative OSDU types</a:t>
            </a:r>
          </a:p>
        </p:txBody>
      </p:sp>
      <p:sp>
        <p:nvSpPr>
          <p:cNvPr id="11" name="s13-dot-0-2">
            <a:extLst xmlns:a="http://schemas.openxmlformats.org/drawingml/2006/main">
              <a:ext uri="{FF2B5EF4-FFF2-40B4-BE49-F238E27FC236}">
                <a16:creationId xmlns:a16="http://schemas.microsoft.com/office/drawing/2014/main" id="{6ED6CF79-0171-4348-8F32-C0B6779A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2" name="s13-b-0-2">
            <a:extLst xmlns:a="http://schemas.openxmlformats.org/drawingml/2006/main">
              <a:ext uri="{FF2B5EF4-FFF2-40B4-BE49-F238E27FC236}">
                <a16:creationId xmlns:a16="http://schemas.microsoft.com/office/drawing/2014/main" id="{66355A21-5D0C-4E11-98F1-A5E10FA5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Application / project-space context</a:t>
            </a:r>
          </a:p>
        </p:txBody>
      </p:sp>
      <p:sp>
        <p:nvSpPr>
          <p:cNvPr id="13" name="s13-dot-0-3">
            <a:extLst xmlns:a="http://schemas.openxmlformats.org/drawingml/2006/main">
              <a:ext uri="{FF2B5EF4-FFF2-40B4-BE49-F238E27FC236}">
                <a16:creationId xmlns:a16="http://schemas.microsoft.com/office/drawing/2014/main" id="{37ED3442-C148-4EDC-8DBC-A2F25E35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81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4" name="s13-b-0-3">
            <a:extLst xmlns:a="http://schemas.openxmlformats.org/drawingml/2006/main">
              <a:ext uri="{FF2B5EF4-FFF2-40B4-BE49-F238E27FC236}">
                <a16:creationId xmlns:a16="http://schemas.microsoft.com/office/drawing/2014/main" id="{C3567670-D023-4E77-8B85-BC617254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Named domain reviewers</a:t>
            </a:r>
          </a:p>
        </p:txBody>
      </p:sp>
      <p:sp>
        <p:nvSpPr>
          <p:cNvPr id="15" name="s13-c-1">
            <a:extLst xmlns:a="http://schemas.openxmlformats.org/drawingml/2006/main">
              <a:ext uri="{FF2B5EF4-FFF2-40B4-BE49-F238E27FC236}">
                <a16:creationId xmlns:a16="http://schemas.microsoft.com/office/drawing/2014/main" id="{E69930FD-9EFE-4D94-84F0-D0B1685A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57350"/>
            <a:ext cx="3524250" cy="38766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16" name="s13-h-1">
            <a:extLst xmlns:a="http://schemas.openxmlformats.org/drawingml/2006/main">
              <a:ext uri="{FF2B5EF4-FFF2-40B4-BE49-F238E27FC236}">
                <a16:creationId xmlns:a16="http://schemas.microsoft.com/office/drawing/2014/main" id="{FD989FE8-DDDE-4290-A7BF-ECD8AA19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Outputs</a:t>
            </a:r>
          </a:p>
        </p:txBody>
      </p:sp>
      <p:sp>
        <p:nvSpPr>
          <p:cNvPr id="17" name="s13-dot-1-0">
            <a:extLst xmlns:a="http://schemas.openxmlformats.org/drawingml/2006/main">
              <a:ext uri="{FF2B5EF4-FFF2-40B4-BE49-F238E27FC236}">
                <a16:creationId xmlns:a16="http://schemas.microsoft.com/office/drawing/2014/main" id="{01A05C4E-9C01-40B2-A67A-F7464325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s13-b-1-0">
            <a:extLst xmlns:a="http://schemas.openxmlformats.org/drawingml/2006/main">
              <a:ext uri="{FF2B5EF4-FFF2-40B4-BE49-F238E27FC236}">
                <a16:creationId xmlns:a16="http://schemas.microsoft.com/office/drawing/2014/main" id="{C718BD67-4409-46A2-81D2-0BC773D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574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Reviewed domain definition</a:t>
            </a:r>
          </a:p>
        </p:txBody>
      </p:sp>
      <p:sp>
        <p:nvSpPr>
          <p:cNvPr id="19" name="s13-dot-1-1">
            <a:extLst xmlns:a="http://schemas.openxmlformats.org/drawingml/2006/main">
              <a:ext uri="{FF2B5EF4-FFF2-40B4-BE49-F238E27FC236}">
                <a16:creationId xmlns:a16="http://schemas.microsoft.com/office/drawing/2014/main" id="{65CEB9B9-B1C7-4370-8C1D-5E81CB7C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0" name="s13-b-1-1">
            <a:extLst xmlns:a="http://schemas.openxmlformats.org/drawingml/2006/main">
              <a:ext uri="{FF2B5EF4-FFF2-40B4-BE49-F238E27FC236}">
                <a16:creationId xmlns:a16="http://schemas.microsoft.com/office/drawing/2014/main" id="{D5000B05-DFB5-40FD-B22D-EA2B28AA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00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Domain ontology</a:t>
            </a:r>
          </a:p>
        </p:txBody>
      </p:sp>
      <p:sp>
        <p:nvSpPr>
          <p:cNvPr id="21" name="s13-dot-1-2">
            <a:extLst xmlns:a="http://schemas.openxmlformats.org/drawingml/2006/main">
              <a:ext uri="{FF2B5EF4-FFF2-40B4-BE49-F238E27FC236}">
                <a16:creationId xmlns:a16="http://schemas.microsoft.com/office/drawing/2014/main" id="{BD5EBDC5-FA57-470C-BF37-478631F7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s13-b-1-2">
            <a:extLst xmlns:a="http://schemas.openxmlformats.org/drawingml/2006/main">
              <a:ext uri="{FF2B5EF4-FFF2-40B4-BE49-F238E27FC236}">
                <a16:creationId xmlns:a16="http://schemas.microsoft.com/office/drawing/2014/main" id="{9235F739-8F41-4FEC-8D5B-4DF0643E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POPS model</a:t>
            </a:r>
          </a:p>
        </p:txBody>
      </p:sp>
      <p:sp>
        <p:nvSpPr>
          <p:cNvPr id="23" name="s13-dot-1-3">
            <a:extLst xmlns:a="http://schemas.openxmlformats.org/drawingml/2006/main">
              <a:ext uri="{FF2B5EF4-FFF2-40B4-BE49-F238E27FC236}">
                <a16:creationId xmlns:a16="http://schemas.microsoft.com/office/drawing/2014/main" id="{E2382C2F-54BD-4992-BCB6-78432E1B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81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4" name="s13-b-1-3">
            <a:extLst xmlns:a="http://schemas.openxmlformats.org/drawingml/2006/main">
              <a:ext uri="{FF2B5EF4-FFF2-40B4-BE49-F238E27FC236}">
                <a16:creationId xmlns:a16="http://schemas.microsoft.com/office/drawing/2014/main" id="{5006F80B-BA7E-497C-851C-584058A0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One detailed IRTV model</a:t>
            </a:r>
          </a:p>
        </p:txBody>
      </p:sp>
      <p:sp>
        <p:nvSpPr>
          <p:cNvPr id="25" name="s13-dot-1-4">
            <a:extLst xmlns:a="http://schemas.openxmlformats.org/drawingml/2006/main">
              <a:ext uri="{FF2B5EF4-FFF2-40B4-BE49-F238E27FC236}">
                <a16:creationId xmlns:a16="http://schemas.microsoft.com/office/drawing/2014/main" id="{9274DA7A-B6E6-4B77-959B-6FBA98F3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s13-b-1-4">
            <a:extLst xmlns:a="http://schemas.openxmlformats.org/drawingml/2006/main">
              <a:ext uri="{FF2B5EF4-FFF2-40B4-BE49-F238E27FC236}">
                <a16:creationId xmlns:a16="http://schemas.microsoft.com/office/drawing/2014/main" id="{A87F0A9B-6AB0-4419-B27D-0EE9AF2B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29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Pilot demonstration</a:t>
            </a:r>
          </a:p>
        </p:txBody>
      </p:sp>
      <p:sp>
        <p:nvSpPr>
          <p:cNvPr id="27" name="s13-c-2">
            <a:extLst xmlns:a="http://schemas.openxmlformats.org/drawingml/2006/main">
              <a:ext uri="{FF2B5EF4-FFF2-40B4-BE49-F238E27FC236}">
                <a16:creationId xmlns:a16="http://schemas.microsoft.com/office/drawing/2014/main" id="{06564A0D-7CB1-4990-A882-3185DBC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57350"/>
            <a:ext cx="3524250" cy="38766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</p:sp>
      <p:sp>
        <p:nvSpPr>
          <p:cNvPr id="28" name="s13-h-2">
            <a:extLst xmlns:a="http://schemas.openxmlformats.org/drawingml/2006/main">
              <a:ext uri="{FF2B5EF4-FFF2-40B4-BE49-F238E27FC236}">
                <a16:creationId xmlns:a16="http://schemas.microsoft.com/office/drawing/2014/main" id="{7E415BA3-EF10-4A6B-8D4A-7EABE184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1B33"/>
                </a:solidFill>
                <a:latin typeface="Helvetica Neue"/>
                <a:ea typeface="Helvetica Neue"/>
                <a:cs typeface="Helvetica Neue"/>
              </a:rPr>
              <a:t>Validation questions</a:t>
            </a:r>
          </a:p>
        </p:txBody>
      </p:sp>
      <p:sp>
        <p:nvSpPr>
          <p:cNvPr id="29" name="s13-dot-2-0">
            <a:extLst xmlns:a="http://schemas.openxmlformats.org/drawingml/2006/main">
              <a:ext uri="{FF2B5EF4-FFF2-40B4-BE49-F238E27FC236}">
                <a16:creationId xmlns:a16="http://schemas.microsoft.com/office/drawing/2014/main" id="{F83D94C2-61D0-4775-AFB8-DF14A688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552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0" name="s13-b-2-0">
            <a:extLst xmlns:a="http://schemas.openxmlformats.org/drawingml/2006/main">
              <a:ext uri="{FF2B5EF4-FFF2-40B4-BE49-F238E27FC236}">
                <a16:creationId xmlns:a16="http://schemas.microsoft.com/office/drawing/2014/main" id="{41B834F6-873D-45BB-ADA5-8D66DC9F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Does the model match real work?</a:t>
            </a:r>
          </a:p>
        </p:txBody>
      </p:sp>
      <p:sp>
        <p:nvSpPr>
          <p:cNvPr id="31" name="s13-dot-2-1">
            <a:extLst xmlns:a="http://schemas.openxmlformats.org/drawingml/2006/main">
              <a:ext uri="{FF2B5EF4-FFF2-40B4-BE49-F238E27FC236}">
                <a16:creationId xmlns:a16="http://schemas.microsoft.com/office/drawing/2014/main" id="{8A74A7EE-7F4C-41EF-BBE4-B8738350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95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2" name="s13-b-2-1">
            <a:extLst xmlns:a="http://schemas.openxmlformats.org/drawingml/2006/main">
              <a:ext uri="{FF2B5EF4-FFF2-40B4-BE49-F238E27FC236}">
                <a16:creationId xmlns:a16="http://schemas.microsoft.com/office/drawing/2014/main" id="{AE6987A4-006D-4DE7-B6DD-57809A44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0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Are OSDU boundaries explicit?</a:t>
            </a:r>
          </a:p>
        </p:txBody>
      </p:sp>
      <p:sp>
        <p:nvSpPr>
          <p:cNvPr id="33" name="s13-dot-2-2">
            <a:extLst xmlns:a="http://schemas.openxmlformats.org/drawingml/2006/main">
              <a:ext uri="{FF2B5EF4-FFF2-40B4-BE49-F238E27FC236}">
                <a16:creationId xmlns:a16="http://schemas.microsoft.com/office/drawing/2014/main" id="{0C2E222E-433D-4E64-BE72-5BAEA7BB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4" name="s13-b-2-2">
            <a:extLst xmlns:a="http://schemas.openxmlformats.org/drawingml/2006/main">
              <a:ext uri="{FF2B5EF4-FFF2-40B4-BE49-F238E27FC236}">
                <a16:creationId xmlns:a16="http://schemas.microsoft.com/office/drawing/2014/main" id="{473F32A2-64FB-44D3-B015-84977828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43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Is lineage and handoff visible?</a:t>
            </a:r>
          </a:p>
        </p:txBody>
      </p:sp>
      <p:sp>
        <p:nvSpPr>
          <p:cNvPr id="35" name="s13-dot-2-3">
            <a:extLst xmlns:a="http://schemas.openxmlformats.org/drawingml/2006/main">
              <a:ext uri="{FF2B5EF4-FFF2-40B4-BE49-F238E27FC236}">
                <a16:creationId xmlns:a16="http://schemas.microsoft.com/office/drawing/2014/main" id="{E4C8E37B-57C3-4BE6-BA0A-96048126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81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6" name="s13-b-2-3">
            <a:extLst xmlns:a="http://schemas.openxmlformats.org/drawingml/2006/main">
              <a:ext uri="{FF2B5EF4-FFF2-40B4-BE49-F238E27FC236}">
                <a16:creationId xmlns:a16="http://schemas.microsoft.com/office/drawing/2014/main" id="{272F942F-89FF-486B-B4E9-B75DEB28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Can roles use the representation?</a:t>
            </a:r>
          </a:p>
        </p:txBody>
      </p:sp>
      <p:sp>
        <p:nvSpPr>
          <p:cNvPr id="37" name="s13-dot-2-4">
            <a:extLst xmlns:a="http://schemas.openxmlformats.org/drawingml/2006/main">
              <a:ext uri="{FF2B5EF4-FFF2-40B4-BE49-F238E27FC236}">
                <a16:creationId xmlns:a16="http://schemas.microsoft.com/office/drawing/2014/main" id="{D114474A-AA36-4728-A893-19024B1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7F0"/>
          </a:solidFill>
          <a:ln xmlns:a="http://schemas.openxmlformats.org/drawingml/2006/main" w="9525">
            <a:solidFill>
              <a:srgbClr val="45C7F0"/>
            </a:solidFill>
            <a:prstDash val="solid"/>
          </a:ln>
        </p:spPr>
      </p:sp>
      <p:sp>
        <p:nvSpPr>
          <p:cNvPr id="38" name="s13-b-2-4">
            <a:extLst xmlns:a="http://schemas.openxmlformats.org/drawingml/2006/main">
              <a:ext uri="{FF2B5EF4-FFF2-40B4-BE49-F238E27FC236}">
                <a16:creationId xmlns:a16="http://schemas.microsoft.com/office/drawing/2014/main" id="{1F636008-069A-4592-9D4B-2BDE8CB3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29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B7D"/>
                </a:solidFill>
                <a:latin typeface="Helvetica Neue"/>
                <a:ea typeface="Helvetica Neue"/>
                <a:cs typeface="Helvetica Neue"/>
              </a:rPr>
              <a:t>What should scale next?</a:t>
            </a:r>
          </a:p>
        </p:txBody>
      </p:sp>
      <p:sp>
        <p:nvSpPr>
          <p:cNvPr id="39" name="s13-close">
            <a:extLst xmlns:a="http://schemas.openxmlformats.org/drawingml/2006/main">
              <a:ext uri="{FF2B5EF4-FFF2-40B4-BE49-F238E27FC236}">
                <a16:creationId xmlns:a16="http://schemas.microsoft.com/office/drawing/2014/main" id="{D25D337B-AA03-4E94-BB87-6A705807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86450"/>
            <a:ext cx="9067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61B35"/>
          </a:solidFill>
          <a:ln xmlns:a="http://schemas.openxmlformats.org/drawingml/2006/main" w="9525">
            <a:solidFill>
              <a:srgbClr val="061B35"/>
            </a:solidFill>
            <a:prstDash val="solid"/>
          </a:ln>
        </p:spPr>
      </p:sp>
      <p:sp>
        <p:nvSpPr>
          <p:cNvPr id="40" name="s13-close-t">
            <a:extLst xmlns:a="http://schemas.openxmlformats.org/drawingml/2006/main">
              <a:ext uri="{FF2B5EF4-FFF2-40B4-BE49-F238E27FC236}">
                <a16:creationId xmlns:a16="http://schemas.microsoft.com/office/drawing/2014/main" id="{D714FF7D-EBD8-4AB7-B294-48CB3157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102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Pilot decision: prove value on one process before expanding the scope.</a:t>
            </a:r>
          </a:p>
        </p:txBody>
      </p:sp>
    </p:spTree>
    <p:extLst>
      <p:ext uri="{BB962C8B-B14F-4D97-AF65-F5344CB8AC3E}">
        <p14:creationId xmlns:p14="http://schemas.microsoft.com/office/powerpoint/2010/main" val="1402749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2026-08-27T13:10:19.1520000Z</dcterms:created>
  <dcterms:modified xsi:type="dcterms:W3CDTF">2026-08-27T13:10:19.1520000Z</dcterms:modified>
</coreProperties>
</file>